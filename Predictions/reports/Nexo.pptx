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1430000" cy="7816850"/>
  <p:notesSz cx="11430000" cy="7816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186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3625" y="844550"/>
            <a:ext cx="5350509" cy="865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73625" y="2212339"/>
            <a:ext cx="5971540" cy="3416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6242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exo-cvc5.onrender.com/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81800" y="688975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2244725"/>
            <a:ext cx="5571490" cy="8655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55"/>
              </a:spcBef>
            </a:pPr>
            <a:r>
              <a:rPr spc="-114" dirty="0"/>
              <a:t>Predictive</a:t>
            </a:r>
            <a:r>
              <a:rPr spc="-265" dirty="0"/>
              <a:t> </a:t>
            </a:r>
            <a:r>
              <a:rPr spc="-65" dirty="0"/>
              <a:t>Analytics</a:t>
            </a:r>
            <a:r>
              <a:rPr spc="-265" dirty="0"/>
              <a:t> </a:t>
            </a:r>
            <a:r>
              <a:rPr spc="-80" dirty="0"/>
              <a:t>Based</a:t>
            </a:r>
            <a:r>
              <a:rPr spc="-265" dirty="0"/>
              <a:t> </a:t>
            </a:r>
            <a:r>
              <a:rPr spc="-85" dirty="0"/>
              <a:t>Student </a:t>
            </a:r>
            <a:r>
              <a:rPr spc="-10" dirty="0"/>
              <a:t>Marketplace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7375" y="3387725"/>
            <a:ext cx="4445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sng" spc="-35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262424"/>
                  </a:solidFill>
                </a:uFill>
                <a:latin typeface="Tahoma"/>
                <a:cs typeface="Tahoma"/>
              </a:rPr>
              <a:t>NEXO</a:t>
            </a:r>
            <a:r>
              <a:rPr u="sng" spc="-65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262424"/>
                  </a:solidFill>
                </a:uFill>
                <a:latin typeface="Tahoma"/>
                <a:cs typeface="Tahoma"/>
              </a:rPr>
              <a:t> </a:t>
            </a:r>
            <a:r>
              <a:rPr u="sng" spc="-4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262424"/>
                  </a:solidFill>
                </a:uFill>
                <a:latin typeface="Tahoma"/>
                <a:cs typeface="Tahoma"/>
              </a:rPr>
              <a:t>-</a:t>
            </a:r>
            <a:r>
              <a:rPr u="sng" spc="-9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262424"/>
                  </a:solidFill>
                </a:uFill>
                <a:latin typeface="Tahoma"/>
                <a:cs typeface="Tahoma"/>
              </a:rPr>
              <a:t>AI-</a:t>
            </a:r>
            <a:r>
              <a:rPr u="sng" spc="-65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262424"/>
                  </a:solidFill>
                </a:uFill>
                <a:latin typeface="Tahoma"/>
                <a:cs typeface="Tahoma"/>
              </a:rPr>
              <a:t>Powered </a:t>
            </a:r>
            <a:r>
              <a:rPr u="sng" spc="-25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262424"/>
                  </a:solidFill>
                </a:uFill>
                <a:latin typeface="Tahoma"/>
                <a:cs typeface="Tahoma"/>
              </a:rPr>
              <a:t>Second-</a:t>
            </a:r>
            <a:r>
              <a:rPr u="sng" spc="-5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262424"/>
                  </a:solidFill>
                </a:uFill>
                <a:latin typeface="Tahoma"/>
                <a:cs typeface="Tahoma"/>
              </a:rPr>
              <a:t>Hand</a:t>
            </a:r>
            <a:r>
              <a:rPr u="sng" spc="-6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262424"/>
                  </a:solidFill>
                </a:uFill>
                <a:latin typeface="Tahoma"/>
                <a:cs typeface="Tahoma"/>
              </a:rPr>
              <a:t> Student</a:t>
            </a:r>
            <a:r>
              <a:rPr u="sng" spc="-65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262424"/>
                  </a:solidFill>
                </a:uFill>
                <a:latin typeface="Tahoma"/>
                <a:cs typeface="Tahoma"/>
              </a:rPr>
              <a:t> </a:t>
            </a:r>
            <a:r>
              <a:rPr u="sng" spc="-20" dirty="0">
                <a:solidFill>
                  <a:schemeClr val="bg1">
                    <a:lumMod val="50000"/>
                  </a:schemeClr>
                </a:solidFill>
                <a:uFill>
                  <a:solidFill>
                    <a:srgbClr val="262424"/>
                  </a:solidFill>
                </a:uFill>
                <a:latin typeface="Tahoma"/>
                <a:cs typeface="Tahoma"/>
              </a:rPr>
              <a:t>Marketplace</a:t>
            </a:r>
            <a:endParaRPr dirty="0">
              <a:solidFill>
                <a:schemeClr val="bg1">
                  <a:lumMod val="50000"/>
                </a:schemeClr>
              </a:solidFill>
              <a:latin typeface="Tahoma"/>
              <a:cs typeface="Tahoma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120808-D322-F1F2-B6B9-BB5B547718A5}"/>
              </a:ext>
            </a:extLst>
          </p:cNvPr>
          <p:cNvSpPr/>
          <p:nvPr/>
        </p:nvSpPr>
        <p:spPr>
          <a:xfrm>
            <a:off x="9448800" y="6727825"/>
            <a:ext cx="1295400" cy="228600"/>
          </a:xfrm>
          <a:prstGeom prst="roundRect">
            <a:avLst/>
          </a:prstGeom>
          <a:solidFill>
            <a:srgbClr val="0022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5BA4EC-5AE2-79E4-AEF7-B7F50B6D12F0}"/>
              </a:ext>
            </a:extLst>
          </p:cNvPr>
          <p:cNvSpPr txBox="1"/>
          <p:nvPr/>
        </p:nvSpPr>
        <p:spPr>
          <a:xfrm>
            <a:off x="231776" y="6103461"/>
            <a:ext cx="56753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SUSANTA KUMAR SUTAR (-24C219A34)</a:t>
            </a:r>
          </a:p>
          <a:p>
            <a:r>
              <a:rPr lang="en-IN" dirty="0"/>
              <a:t>SUBHAM KUMAR ROUTRAY (-24C218A14)</a:t>
            </a:r>
          </a:p>
          <a:p>
            <a:r>
              <a:rPr lang="en-IN" dirty="0"/>
              <a:t>RITESH RANJAN PUHAN (-24C216A41)</a:t>
            </a:r>
          </a:p>
          <a:p>
            <a:r>
              <a:rPr lang="en-IN" dirty="0"/>
              <a:t>ADARSHA NANDA (-24C214A01)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3"/>
            <a:ext cx="4286250" cy="6438900"/>
            <a:chOff x="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53"/>
              <a:ext cx="4286250" cy="64389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325" y="219074"/>
              <a:ext cx="2895599" cy="601027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873625" y="1139825"/>
            <a:ext cx="5175885" cy="8655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55"/>
              </a:spcBef>
            </a:pPr>
            <a:r>
              <a:rPr spc="-105" dirty="0"/>
              <a:t>NEXO:</a:t>
            </a:r>
            <a:r>
              <a:rPr spc="-265" dirty="0"/>
              <a:t> </a:t>
            </a:r>
            <a:r>
              <a:rPr spc="-145" dirty="0"/>
              <a:t>Your</a:t>
            </a:r>
            <a:r>
              <a:rPr spc="-260" dirty="0"/>
              <a:t> </a:t>
            </a:r>
            <a:r>
              <a:rPr spc="-135" dirty="0"/>
              <a:t>Smart</a:t>
            </a:r>
            <a:r>
              <a:rPr spc="-260" dirty="0"/>
              <a:t> </a:t>
            </a:r>
            <a:r>
              <a:rPr spc="-60" dirty="0"/>
              <a:t>Second-</a:t>
            </a:r>
            <a:r>
              <a:rPr spc="-50" dirty="0"/>
              <a:t>Hand </a:t>
            </a:r>
            <a:r>
              <a:rPr spc="-10" dirty="0"/>
              <a:t>Marketplace</a:t>
            </a:r>
          </a:p>
        </p:txBody>
      </p:sp>
      <p:sp>
        <p:nvSpPr>
          <p:cNvPr id="8" name="object 8"/>
          <p:cNvSpPr/>
          <p:nvPr/>
        </p:nvSpPr>
        <p:spPr>
          <a:xfrm>
            <a:off x="4924425" y="34099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24425" y="40195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24425" y="46196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24425" y="522922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84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84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pc="55" dirty="0"/>
              <a:t>NEXO</a:t>
            </a:r>
            <a:r>
              <a:rPr spc="30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dirty="0"/>
              <a:t>an</a:t>
            </a:r>
            <a:r>
              <a:rPr spc="35" dirty="0"/>
              <a:t> </a:t>
            </a:r>
            <a:r>
              <a:rPr dirty="0"/>
              <a:t>innovative</a:t>
            </a:r>
            <a:r>
              <a:rPr spc="30" dirty="0"/>
              <a:t> </a:t>
            </a:r>
            <a:r>
              <a:rPr spc="60" dirty="0"/>
              <a:t>second-</a:t>
            </a:r>
            <a:r>
              <a:rPr dirty="0"/>
              <a:t>hand</a:t>
            </a:r>
            <a:r>
              <a:rPr spc="30" dirty="0"/>
              <a:t> </a:t>
            </a:r>
            <a:r>
              <a:rPr dirty="0"/>
              <a:t>product</a:t>
            </a:r>
            <a:r>
              <a:rPr spc="35" dirty="0"/>
              <a:t> </a:t>
            </a:r>
            <a:r>
              <a:rPr dirty="0"/>
              <a:t>marketplace</a:t>
            </a:r>
            <a:r>
              <a:rPr spc="30" dirty="0"/>
              <a:t> </a:t>
            </a:r>
            <a:r>
              <a:rPr dirty="0"/>
              <a:t>crafted</a:t>
            </a:r>
            <a:r>
              <a:rPr spc="35" dirty="0"/>
              <a:t> </a:t>
            </a:r>
            <a:r>
              <a:rPr spc="-10" dirty="0"/>
              <a:t>exclusively </a:t>
            </a:r>
            <a:r>
              <a:rPr dirty="0"/>
              <a:t>for</a:t>
            </a:r>
            <a:r>
              <a:rPr spc="10" dirty="0"/>
              <a:t> </a:t>
            </a:r>
            <a:r>
              <a:rPr dirty="0"/>
              <a:t>college</a:t>
            </a:r>
            <a:r>
              <a:rPr spc="10" dirty="0"/>
              <a:t> </a:t>
            </a:r>
            <a:r>
              <a:rPr dirty="0"/>
              <a:t>students.</a:t>
            </a:r>
            <a:r>
              <a:rPr spc="10" dirty="0"/>
              <a:t> </a:t>
            </a:r>
            <a:r>
              <a:rPr spc="-85" dirty="0"/>
              <a:t>It</a:t>
            </a:r>
            <a:r>
              <a:rPr spc="10" dirty="0"/>
              <a:t> </a:t>
            </a:r>
            <a:r>
              <a:rPr spc="45" dirty="0"/>
              <a:t>connects</a:t>
            </a:r>
            <a:r>
              <a:rPr spc="10" dirty="0"/>
              <a:t> </a:t>
            </a:r>
            <a:r>
              <a:rPr dirty="0"/>
              <a:t>students</a:t>
            </a:r>
            <a:r>
              <a:rPr spc="10" dirty="0"/>
              <a:t> </a:t>
            </a:r>
            <a:r>
              <a:rPr dirty="0"/>
              <a:t>looking</a:t>
            </a:r>
            <a:r>
              <a:rPr spc="10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dirty="0"/>
              <a:t>buy</a:t>
            </a:r>
            <a:r>
              <a:rPr spc="15" dirty="0"/>
              <a:t> </a:t>
            </a:r>
            <a:r>
              <a:rPr dirty="0"/>
              <a:t>or</a:t>
            </a:r>
            <a:r>
              <a:rPr spc="10" dirty="0"/>
              <a:t> </a:t>
            </a:r>
            <a:r>
              <a:rPr dirty="0"/>
              <a:t>sell</a:t>
            </a:r>
            <a:r>
              <a:rPr spc="10" dirty="0"/>
              <a:t> </a:t>
            </a:r>
            <a:r>
              <a:rPr spc="30" dirty="0"/>
              <a:t>used </a:t>
            </a:r>
            <a:r>
              <a:rPr spc="45" dirty="0"/>
              <a:t>academic</a:t>
            </a:r>
            <a:r>
              <a:rPr spc="-15" dirty="0"/>
              <a:t> </a:t>
            </a:r>
            <a:r>
              <a:rPr dirty="0"/>
              <a:t>materials,</a:t>
            </a:r>
            <a:r>
              <a:rPr spc="-15" dirty="0"/>
              <a:t> </a:t>
            </a:r>
            <a:r>
              <a:rPr dirty="0"/>
              <a:t>gadgets,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35" dirty="0"/>
              <a:t>accessories.</a:t>
            </a:r>
          </a:p>
          <a:p>
            <a:pPr marL="286385" marR="320040">
              <a:lnSpc>
                <a:spcPct val="129600"/>
              </a:lnSpc>
              <a:spcBef>
                <a:spcPts val="1575"/>
              </a:spcBef>
            </a:pPr>
            <a:r>
              <a:rPr spc="20" dirty="0"/>
              <a:t>Specialized</a:t>
            </a:r>
            <a:r>
              <a:rPr spc="-65" dirty="0"/>
              <a:t> </a:t>
            </a:r>
            <a:r>
              <a:rPr spc="20" dirty="0"/>
              <a:t>for</a:t>
            </a:r>
            <a:r>
              <a:rPr spc="-65" dirty="0"/>
              <a:t> </a:t>
            </a:r>
            <a:r>
              <a:rPr spc="10" dirty="0"/>
              <a:t>students:</a:t>
            </a:r>
            <a:r>
              <a:rPr spc="-65" dirty="0"/>
              <a:t> </a:t>
            </a:r>
            <a:r>
              <a:rPr spc="55" dirty="0"/>
              <a:t>Focuses</a:t>
            </a:r>
            <a:r>
              <a:rPr spc="-65" dirty="0"/>
              <a:t> </a:t>
            </a:r>
            <a:r>
              <a:rPr spc="20" dirty="0"/>
              <a:t>on</a:t>
            </a:r>
            <a:r>
              <a:rPr spc="-65" dirty="0"/>
              <a:t> </a:t>
            </a:r>
            <a:r>
              <a:rPr spc="10" dirty="0"/>
              <a:t>the</a:t>
            </a:r>
            <a:r>
              <a:rPr spc="-65" dirty="0"/>
              <a:t> </a:t>
            </a:r>
            <a:r>
              <a:rPr spc="20" dirty="0"/>
              <a:t>unique</a:t>
            </a:r>
            <a:r>
              <a:rPr spc="-65" dirty="0"/>
              <a:t> </a:t>
            </a:r>
            <a:r>
              <a:rPr spc="50" dirty="0"/>
              <a:t>needs</a:t>
            </a:r>
            <a:r>
              <a:rPr spc="-65" dirty="0"/>
              <a:t> </a:t>
            </a:r>
            <a:r>
              <a:rPr spc="50" dirty="0"/>
              <a:t>of</a:t>
            </a:r>
            <a:r>
              <a:rPr spc="-65" dirty="0"/>
              <a:t> </a:t>
            </a:r>
            <a:r>
              <a:rPr spc="10" dirty="0"/>
              <a:t>the</a:t>
            </a:r>
            <a:r>
              <a:rPr spc="-65" dirty="0"/>
              <a:t> </a:t>
            </a:r>
            <a:r>
              <a:rPr spc="-10" dirty="0"/>
              <a:t>college community.</a:t>
            </a:r>
          </a:p>
          <a:p>
            <a:pPr marL="286385" marR="401320">
              <a:lnSpc>
                <a:spcPct val="129600"/>
              </a:lnSpc>
              <a:spcBef>
                <a:spcPts val="600"/>
              </a:spcBef>
            </a:pPr>
            <a:r>
              <a:rPr dirty="0"/>
              <a:t>Affordable</a:t>
            </a:r>
            <a:r>
              <a:rPr spc="25" dirty="0"/>
              <a:t> </a:t>
            </a:r>
            <a:r>
              <a:rPr dirty="0"/>
              <a:t>essentials:</a:t>
            </a:r>
            <a:r>
              <a:rPr spc="25" dirty="0"/>
              <a:t> </a:t>
            </a:r>
            <a:r>
              <a:rPr dirty="0"/>
              <a:t>Facilitates</a:t>
            </a:r>
            <a:r>
              <a:rPr spc="25" dirty="0"/>
              <a:t> </a:t>
            </a:r>
            <a:r>
              <a:rPr spc="75" dirty="0"/>
              <a:t>access</a:t>
            </a:r>
            <a:r>
              <a:rPr spc="2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spc="50" dirty="0"/>
              <a:t>cost-</a:t>
            </a:r>
            <a:r>
              <a:rPr dirty="0"/>
              <a:t>effective</a:t>
            </a:r>
            <a:r>
              <a:rPr spc="25" dirty="0"/>
              <a:t> </a:t>
            </a:r>
            <a:r>
              <a:rPr spc="50" dirty="0"/>
              <a:t>books</a:t>
            </a:r>
            <a:r>
              <a:rPr spc="25" dirty="0"/>
              <a:t> </a:t>
            </a:r>
            <a:r>
              <a:rPr spc="-25" dirty="0"/>
              <a:t>and </a:t>
            </a:r>
            <a:r>
              <a:rPr spc="-10" dirty="0"/>
              <a:t>tech.</a:t>
            </a:r>
          </a:p>
          <a:p>
            <a:pPr marL="286385" marR="685800">
              <a:lnSpc>
                <a:spcPct val="134300"/>
              </a:lnSpc>
              <a:spcBef>
                <a:spcPts val="450"/>
              </a:spcBef>
            </a:pPr>
            <a:r>
              <a:rPr spc="10" dirty="0"/>
              <a:t>Predictive</a:t>
            </a:r>
            <a:r>
              <a:rPr spc="20" dirty="0"/>
              <a:t> </a:t>
            </a:r>
            <a:r>
              <a:rPr spc="10" dirty="0"/>
              <a:t>analytics:</a:t>
            </a:r>
            <a:r>
              <a:rPr spc="25" dirty="0"/>
              <a:t> </a:t>
            </a:r>
            <a:r>
              <a:rPr spc="10" dirty="0"/>
              <a:t>Enhances</a:t>
            </a:r>
            <a:r>
              <a:rPr spc="20" dirty="0"/>
              <a:t> </a:t>
            </a:r>
            <a:r>
              <a:rPr spc="10" dirty="0"/>
              <a:t>search</a:t>
            </a:r>
            <a:r>
              <a:rPr spc="25" dirty="0"/>
              <a:t> </a:t>
            </a:r>
            <a:r>
              <a:rPr spc="10" dirty="0"/>
              <a:t>and</a:t>
            </a:r>
            <a:r>
              <a:rPr spc="20" dirty="0"/>
              <a:t> </a:t>
            </a:r>
            <a:r>
              <a:rPr spc="10" dirty="0"/>
              <a:t>product</a:t>
            </a:r>
            <a:r>
              <a:rPr spc="25" dirty="0"/>
              <a:t> </a:t>
            </a:r>
            <a:r>
              <a:rPr spc="10" dirty="0"/>
              <a:t>visibility</a:t>
            </a:r>
            <a:r>
              <a:rPr spc="25" dirty="0"/>
              <a:t> </a:t>
            </a:r>
            <a:r>
              <a:rPr spc="10" dirty="0"/>
              <a:t>for</a:t>
            </a:r>
            <a:r>
              <a:rPr spc="20" dirty="0"/>
              <a:t> </a:t>
            </a:r>
            <a:r>
              <a:rPr spc="-50" dirty="0"/>
              <a:t>a </a:t>
            </a:r>
            <a:r>
              <a:rPr spc="45" dirty="0"/>
              <a:t>seamless</a:t>
            </a:r>
            <a:r>
              <a:rPr spc="-100" dirty="0"/>
              <a:t> </a:t>
            </a:r>
            <a:r>
              <a:rPr spc="-10" dirty="0"/>
              <a:t>experience.</a:t>
            </a:r>
          </a:p>
          <a:p>
            <a:pPr marL="286385" marR="327025">
              <a:lnSpc>
                <a:spcPct val="134300"/>
              </a:lnSpc>
              <a:spcBef>
                <a:spcPts val="445"/>
              </a:spcBef>
            </a:pPr>
            <a:r>
              <a:rPr dirty="0"/>
              <a:t>Smarter</a:t>
            </a:r>
            <a:r>
              <a:rPr spc="-5" dirty="0"/>
              <a:t> </a:t>
            </a:r>
            <a:r>
              <a:rPr dirty="0"/>
              <a:t>discovery: </a:t>
            </a:r>
            <a:r>
              <a:rPr spc="65" dirty="0"/>
              <a:t>Moves</a:t>
            </a:r>
            <a:r>
              <a:rPr dirty="0"/>
              <a:t> beyond </a:t>
            </a:r>
            <a:r>
              <a:rPr spc="55" dirty="0"/>
              <a:t>basic</a:t>
            </a:r>
            <a:r>
              <a:rPr dirty="0"/>
              <a:t> listings to intelligent </a:t>
            </a:r>
            <a:r>
              <a:rPr spc="-10" dirty="0"/>
              <a:t>product matching.</a:t>
            </a:r>
          </a:p>
        </p:txBody>
      </p:sp>
      <p:pic>
        <p:nvPicPr>
          <p:cNvPr id="13" name="object 13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23BD421-298B-DB88-FAD9-3043512E6055}"/>
              </a:ext>
            </a:extLst>
          </p:cNvPr>
          <p:cNvSpPr/>
          <p:nvPr/>
        </p:nvSpPr>
        <p:spPr>
          <a:xfrm>
            <a:off x="9580244" y="5962153"/>
            <a:ext cx="1754504" cy="607948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00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31DE6F-1155-03CD-377A-3E326E696A3D}"/>
              </a:ext>
            </a:extLst>
          </p:cNvPr>
          <p:cNvSpPr txBox="1"/>
          <p:nvPr/>
        </p:nvSpPr>
        <p:spPr>
          <a:xfrm>
            <a:off x="457200" y="6587608"/>
            <a:ext cx="571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6"/>
              </a:rPr>
              <a:t>https://nexo-cvc5.onrender.com/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78102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55"/>
              </a:spcBef>
            </a:pPr>
            <a:r>
              <a:rPr spc="-135" dirty="0"/>
              <a:t>Robust</a:t>
            </a:r>
            <a:r>
              <a:rPr spc="-254" dirty="0"/>
              <a:t> </a:t>
            </a:r>
            <a:r>
              <a:rPr spc="-114" dirty="0"/>
              <a:t>Architecture</a:t>
            </a:r>
            <a:r>
              <a:rPr spc="-254" dirty="0"/>
              <a:t> </a:t>
            </a:r>
            <a:r>
              <a:rPr spc="-105" dirty="0"/>
              <a:t>for</a:t>
            </a:r>
            <a:r>
              <a:rPr spc="-250" dirty="0"/>
              <a:t> </a:t>
            </a:r>
            <a:r>
              <a:rPr spc="-165" dirty="0"/>
              <a:t>Intelligent </a:t>
            </a:r>
            <a:r>
              <a:rPr spc="-10" dirty="0"/>
              <a:t>Solutions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867275" y="1981199"/>
            <a:ext cx="5962650" cy="1352550"/>
            <a:chOff x="4867275" y="1981199"/>
            <a:chExt cx="5962650" cy="1352550"/>
          </a:xfrm>
        </p:grpSpPr>
        <p:sp>
          <p:nvSpPr>
            <p:cNvPr id="7" name="object 7"/>
            <p:cNvSpPr/>
            <p:nvPr/>
          </p:nvSpPr>
          <p:spPr>
            <a:xfrm>
              <a:off x="4887163" y="1981212"/>
              <a:ext cx="5942965" cy="1352550"/>
            </a:xfrm>
            <a:custGeom>
              <a:avLst/>
              <a:gdLst/>
              <a:ahLst/>
              <a:cxnLst/>
              <a:rect l="l" t="t" r="r" b="b"/>
              <a:pathLst>
                <a:path w="5942965" h="1352550">
                  <a:moveTo>
                    <a:pt x="5942711" y="51828"/>
                  </a:moveTo>
                  <a:lnTo>
                    <a:pt x="5941225" y="44399"/>
                  </a:lnTo>
                  <a:lnTo>
                    <a:pt x="5935129" y="29692"/>
                  </a:lnTo>
                  <a:lnTo>
                    <a:pt x="5930798" y="23202"/>
                  </a:lnTo>
                  <a:lnTo>
                    <a:pt x="5925642" y="18059"/>
                  </a:lnTo>
                  <a:lnTo>
                    <a:pt x="5925401" y="17805"/>
                  </a:lnTo>
                  <a:lnTo>
                    <a:pt x="5925185" y="17576"/>
                  </a:lnTo>
                  <a:lnTo>
                    <a:pt x="5919546" y="11950"/>
                  </a:lnTo>
                  <a:lnTo>
                    <a:pt x="5913056" y="7607"/>
                  </a:lnTo>
                  <a:lnTo>
                    <a:pt x="5898477" y="1562"/>
                  </a:lnTo>
                  <a:lnTo>
                    <a:pt x="5898604" y="1562"/>
                  </a:lnTo>
                  <a:lnTo>
                    <a:pt x="589070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882741" y="19050"/>
                  </a:lnTo>
                  <a:lnTo>
                    <a:pt x="5911951" y="31356"/>
                  </a:lnTo>
                  <a:lnTo>
                    <a:pt x="5916955" y="37350"/>
                  </a:lnTo>
                  <a:lnTo>
                    <a:pt x="5920740" y="44399"/>
                  </a:lnTo>
                  <a:lnTo>
                    <a:pt x="5922950" y="51828"/>
                  </a:lnTo>
                  <a:lnTo>
                    <a:pt x="5923699" y="60007"/>
                  </a:lnTo>
                  <a:lnTo>
                    <a:pt x="5923699" y="1292542"/>
                  </a:lnTo>
                  <a:lnTo>
                    <a:pt x="5912142" y="1320977"/>
                  </a:lnTo>
                  <a:lnTo>
                    <a:pt x="5911710" y="1321498"/>
                  </a:lnTo>
                  <a:lnTo>
                    <a:pt x="5882741" y="1333500"/>
                  </a:lnTo>
                  <a:lnTo>
                    <a:pt x="75349" y="1333500"/>
                  </a:lnTo>
                  <a:lnTo>
                    <a:pt x="33007" y="1323873"/>
                  </a:lnTo>
                  <a:lnTo>
                    <a:pt x="1079" y="1291221"/>
                  </a:lnTo>
                  <a:lnTo>
                    <a:pt x="0" y="1287106"/>
                  </a:lnTo>
                  <a:lnTo>
                    <a:pt x="609" y="1291221"/>
                  </a:lnTo>
                  <a:lnTo>
                    <a:pt x="2413" y="1298435"/>
                  </a:lnTo>
                  <a:lnTo>
                    <a:pt x="4864" y="1305229"/>
                  </a:lnTo>
                  <a:lnTo>
                    <a:pt x="4953" y="1305509"/>
                  </a:lnTo>
                  <a:lnTo>
                    <a:pt x="33007" y="1339710"/>
                  </a:lnTo>
                  <a:lnTo>
                    <a:pt x="75349" y="1352550"/>
                  </a:lnTo>
                  <a:lnTo>
                    <a:pt x="5890704" y="1352550"/>
                  </a:lnTo>
                  <a:lnTo>
                    <a:pt x="5897981" y="1351089"/>
                  </a:lnTo>
                  <a:lnTo>
                    <a:pt x="5898172" y="1351089"/>
                  </a:lnTo>
                  <a:lnTo>
                    <a:pt x="5913056" y="1344930"/>
                  </a:lnTo>
                  <a:lnTo>
                    <a:pt x="5919546" y="1340599"/>
                  </a:lnTo>
                  <a:lnTo>
                    <a:pt x="5925172" y="1334973"/>
                  </a:lnTo>
                  <a:lnTo>
                    <a:pt x="5925655" y="1334490"/>
                  </a:lnTo>
                  <a:lnTo>
                    <a:pt x="5930798" y="1329347"/>
                  </a:lnTo>
                  <a:lnTo>
                    <a:pt x="5935129" y="1322857"/>
                  </a:lnTo>
                  <a:lnTo>
                    <a:pt x="5941187" y="1308252"/>
                  </a:lnTo>
                  <a:lnTo>
                    <a:pt x="5942711" y="1300708"/>
                  </a:lnTo>
                  <a:lnTo>
                    <a:pt x="5942711" y="51828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67275" y="1981199"/>
              <a:ext cx="76200" cy="1352550"/>
            </a:xfrm>
            <a:custGeom>
              <a:avLst/>
              <a:gdLst/>
              <a:ahLst/>
              <a:cxnLst/>
              <a:rect l="l" t="t" r="r" b="b"/>
              <a:pathLst>
                <a:path w="76200" h="1352550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292542"/>
                  </a:lnTo>
                  <a:lnTo>
                    <a:pt x="0" y="1296479"/>
                  </a:lnTo>
                  <a:lnTo>
                    <a:pt x="14782" y="1332191"/>
                  </a:lnTo>
                  <a:lnTo>
                    <a:pt x="52158" y="1352169"/>
                  </a:lnTo>
                  <a:lnTo>
                    <a:pt x="56070" y="1352550"/>
                  </a:lnTo>
                  <a:lnTo>
                    <a:pt x="76200" y="13525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72075" y="2647949"/>
              <a:ext cx="57150" cy="400050"/>
            </a:xfrm>
            <a:custGeom>
              <a:avLst/>
              <a:gdLst/>
              <a:ahLst/>
              <a:cxnLst/>
              <a:rect l="l" t="t" r="r" b="b"/>
              <a:pathLst>
                <a:path w="57150" h="400050">
                  <a:moveTo>
                    <a:pt x="57150" y="367690"/>
                  </a:moveTo>
                  <a:lnTo>
                    <a:pt x="32346" y="342900"/>
                  </a:lnTo>
                  <a:lnTo>
                    <a:pt x="24790" y="342900"/>
                  </a:lnTo>
                  <a:lnTo>
                    <a:pt x="0" y="367690"/>
                  </a:lnTo>
                  <a:lnTo>
                    <a:pt x="0" y="375259"/>
                  </a:lnTo>
                  <a:lnTo>
                    <a:pt x="24790" y="400050"/>
                  </a:lnTo>
                  <a:lnTo>
                    <a:pt x="32346" y="400050"/>
                  </a:lnTo>
                  <a:lnTo>
                    <a:pt x="57150" y="375259"/>
                  </a:lnTo>
                  <a:lnTo>
                    <a:pt x="57150" y="371475"/>
                  </a:lnTo>
                  <a:lnTo>
                    <a:pt x="57150" y="367690"/>
                  </a:lnTo>
                  <a:close/>
                </a:path>
                <a:path w="57150" h="400050">
                  <a:moveTo>
                    <a:pt x="57150" y="24790"/>
                  </a:moveTo>
                  <a:lnTo>
                    <a:pt x="32346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46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26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121275" y="2154237"/>
            <a:ext cx="4743450" cy="9601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Frontend</a:t>
            </a:r>
            <a:endParaRPr sz="1650" dirty="0">
              <a:latin typeface="Tahoma"/>
              <a:cs typeface="Tahoma"/>
            </a:endParaRPr>
          </a:p>
          <a:p>
            <a:pPr marL="286385" marR="5080">
              <a:lnSpc>
                <a:spcPts val="2700"/>
              </a:lnSpc>
              <a:spcBef>
                <a:spcPts val="40"/>
              </a:spcBef>
            </a:pP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React.js:</a:t>
            </a:r>
            <a:r>
              <a:rPr sz="1350" spc="7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Dynamic</a:t>
            </a:r>
            <a:r>
              <a:rPr sz="1350" spc="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350" spc="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responsive</a:t>
            </a:r>
            <a:r>
              <a:rPr sz="1350" spc="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user</a:t>
            </a:r>
            <a:r>
              <a:rPr sz="1350" spc="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interfaces.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Tailwind</a:t>
            </a:r>
            <a:r>
              <a:rPr sz="135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262424"/>
                </a:solidFill>
                <a:latin typeface="Tahoma"/>
                <a:cs typeface="Tahoma"/>
              </a:rPr>
              <a:t>CSS:</a:t>
            </a:r>
            <a:r>
              <a:rPr sz="135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Utility-first</a:t>
            </a:r>
            <a:r>
              <a:rPr sz="135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styling</a:t>
            </a:r>
            <a:r>
              <a:rPr sz="135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35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</a:t>
            </a:r>
            <a:r>
              <a:rPr sz="135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sleek,</a:t>
            </a:r>
            <a:r>
              <a:rPr sz="135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modern</a:t>
            </a:r>
            <a:r>
              <a:rPr sz="135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look.</a:t>
            </a:r>
            <a:endParaRPr sz="1350" dirty="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67275" y="3505200"/>
            <a:ext cx="5962650" cy="1362075"/>
            <a:chOff x="4867275" y="3505200"/>
            <a:chExt cx="5962650" cy="1362075"/>
          </a:xfrm>
        </p:grpSpPr>
        <p:sp>
          <p:nvSpPr>
            <p:cNvPr id="12" name="object 12"/>
            <p:cNvSpPr/>
            <p:nvPr/>
          </p:nvSpPr>
          <p:spPr>
            <a:xfrm>
              <a:off x="4887163" y="3505212"/>
              <a:ext cx="5942965" cy="1362075"/>
            </a:xfrm>
            <a:custGeom>
              <a:avLst/>
              <a:gdLst/>
              <a:ahLst/>
              <a:cxnLst/>
              <a:rect l="l" t="t" r="r" b="b"/>
              <a:pathLst>
                <a:path w="5942965" h="1362075">
                  <a:moveTo>
                    <a:pt x="5942711" y="51828"/>
                  </a:moveTo>
                  <a:lnTo>
                    <a:pt x="5941225" y="44399"/>
                  </a:lnTo>
                  <a:lnTo>
                    <a:pt x="5935129" y="29692"/>
                  </a:lnTo>
                  <a:lnTo>
                    <a:pt x="5930798" y="23202"/>
                  </a:lnTo>
                  <a:lnTo>
                    <a:pt x="5925642" y="18059"/>
                  </a:lnTo>
                  <a:lnTo>
                    <a:pt x="5925401" y="17805"/>
                  </a:lnTo>
                  <a:lnTo>
                    <a:pt x="5925185" y="17576"/>
                  </a:lnTo>
                  <a:lnTo>
                    <a:pt x="5919546" y="11950"/>
                  </a:lnTo>
                  <a:lnTo>
                    <a:pt x="5913056" y="7607"/>
                  </a:lnTo>
                  <a:lnTo>
                    <a:pt x="5898477" y="1562"/>
                  </a:lnTo>
                  <a:lnTo>
                    <a:pt x="5898604" y="1562"/>
                  </a:lnTo>
                  <a:lnTo>
                    <a:pt x="589070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882741" y="19050"/>
                  </a:lnTo>
                  <a:lnTo>
                    <a:pt x="5911951" y="31356"/>
                  </a:lnTo>
                  <a:lnTo>
                    <a:pt x="5916955" y="37350"/>
                  </a:lnTo>
                  <a:lnTo>
                    <a:pt x="5920740" y="44399"/>
                  </a:lnTo>
                  <a:lnTo>
                    <a:pt x="5922950" y="51828"/>
                  </a:lnTo>
                  <a:lnTo>
                    <a:pt x="5923699" y="60007"/>
                  </a:lnTo>
                  <a:lnTo>
                    <a:pt x="5923699" y="1302067"/>
                  </a:lnTo>
                  <a:lnTo>
                    <a:pt x="5905398" y="1336268"/>
                  </a:lnTo>
                  <a:lnTo>
                    <a:pt x="5882741" y="1343025"/>
                  </a:lnTo>
                  <a:lnTo>
                    <a:pt x="75349" y="1343025"/>
                  </a:lnTo>
                  <a:lnTo>
                    <a:pt x="33007" y="1333398"/>
                  </a:lnTo>
                  <a:lnTo>
                    <a:pt x="1079" y="1300746"/>
                  </a:lnTo>
                  <a:lnTo>
                    <a:pt x="0" y="1296644"/>
                  </a:lnTo>
                  <a:lnTo>
                    <a:pt x="609" y="1300746"/>
                  </a:lnTo>
                  <a:lnTo>
                    <a:pt x="2413" y="1307947"/>
                  </a:lnTo>
                  <a:lnTo>
                    <a:pt x="4851" y="1314742"/>
                  </a:lnTo>
                  <a:lnTo>
                    <a:pt x="4953" y="1315034"/>
                  </a:lnTo>
                  <a:lnTo>
                    <a:pt x="33007" y="1349235"/>
                  </a:lnTo>
                  <a:lnTo>
                    <a:pt x="75349" y="1362075"/>
                  </a:lnTo>
                  <a:lnTo>
                    <a:pt x="5890704" y="1362075"/>
                  </a:lnTo>
                  <a:lnTo>
                    <a:pt x="5897981" y="1360614"/>
                  </a:lnTo>
                  <a:lnTo>
                    <a:pt x="5898172" y="1360614"/>
                  </a:lnTo>
                  <a:lnTo>
                    <a:pt x="5913056" y="1354455"/>
                  </a:lnTo>
                  <a:lnTo>
                    <a:pt x="5919546" y="1350124"/>
                  </a:lnTo>
                  <a:lnTo>
                    <a:pt x="5925172" y="1344498"/>
                  </a:lnTo>
                  <a:lnTo>
                    <a:pt x="5925655" y="1344015"/>
                  </a:lnTo>
                  <a:lnTo>
                    <a:pt x="5930798" y="1338872"/>
                  </a:lnTo>
                  <a:lnTo>
                    <a:pt x="5935129" y="1332382"/>
                  </a:lnTo>
                  <a:lnTo>
                    <a:pt x="5941187" y="1317777"/>
                  </a:lnTo>
                  <a:lnTo>
                    <a:pt x="5942711" y="1310233"/>
                  </a:lnTo>
                  <a:lnTo>
                    <a:pt x="5942711" y="51828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67275" y="3505200"/>
              <a:ext cx="76200" cy="1362075"/>
            </a:xfrm>
            <a:custGeom>
              <a:avLst/>
              <a:gdLst/>
              <a:ahLst/>
              <a:cxnLst/>
              <a:rect l="l" t="t" r="r" b="b"/>
              <a:pathLst>
                <a:path w="76200" h="1362075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302067"/>
                  </a:lnTo>
                  <a:lnTo>
                    <a:pt x="0" y="1306004"/>
                  </a:lnTo>
                  <a:lnTo>
                    <a:pt x="14782" y="1341716"/>
                  </a:lnTo>
                  <a:lnTo>
                    <a:pt x="52158" y="1361694"/>
                  </a:lnTo>
                  <a:lnTo>
                    <a:pt x="56070" y="1362075"/>
                  </a:lnTo>
                  <a:lnTo>
                    <a:pt x="76200" y="13620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72075" y="4181474"/>
              <a:ext cx="57150" cy="391160"/>
            </a:xfrm>
            <a:custGeom>
              <a:avLst/>
              <a:gdLst/>
              <a:ahLst/>
              <a:cxnLst/>
              <a:rect l="l" t="t" r="r" b="b"/>
              <a:pathLst>
                <a:path w="57150" h="391160">
                  <a:moveTo>
                    <a:pt x="57150" y="358178"/>
                  </a:moveTo>
                  <a:lnTo>
                    <a:pt x="32346" y="333387"/>
                  </a:lnTo>
                  <a:lnTo>
                    <a:pt x="24790" y="333387"/>
                  </a:lnTo>
                  <a:lnTo>
                    <a:pt x="0" y="358178"/>
                  </a:lnTo>
                  <a:lnTo>
                    <a:pt x="0" y="365747"/>
                  </a:lnTo>
                  <a:lnTo>
                    <a:pt x="24790" y="390537"/>
                  </a:lnTo>
                  <a:lnTo>
                    <a:pt x="32346" y="390537"/>
                  </a:lnTo>
                  <a:lnTo>
                    <a:pt x="57150" y="365747"/>
                  </a:lnTo>
                  <a:lnTo>
                    <a:pt x="57150" y="361962"/>
                  </a:lnTo>
                  <a:lnTo>
                    <a:pt x="57150" y="358178"/>
                  </a:lnTo>
                  <a:close/>
                </a:path>
                <a:path w="57150" h="391160">
                  <a:moveTo>
                    <a:pt x="57150" y="24790"/>
                  </a:moveTo>
                  <a:lnTo>
                    <a:pt x="32346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46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26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121275" y="3678237"/>
            <a:ext cx="4396740" cy="9601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Backend</a:t>
            </a:r>
            <a:endParaRPr sz="1650">
              <a:latin typeface="Tahoma"/>
              <a:cs typeface="Tahoma"/>
            </a:endParaRPr>
          </a:p>
          <a:p>
            <a:pPr marL="286385" marR="5080">
              <a:lnSpc>
                <a:spcPct val="162000"/>
              </a:lnSpc>
              <a:spcBef>
                <a:spcPts val="90"/>
              </a:spcBef>
            </a:pP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Django:</a:t>
            </a:r>
            <a:r>
              <a:rPr sz="135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Powerful,</a:t>
            </a:r>
            <a:r>
              <a:rPr sz="135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high-level</a:t>
            </a:r>
            <a:r>
              <a:rPr sz="135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Python</a:t>
            </a:r>
            <a:r>
              <a:rPr sz="135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262424"/>
                </a:solidFill>
                <a:latin typeface="Tahoma"/>
                <a:cs typeface="Tahoma"/>
              </a:rPr>
              <a:t>web</a:t>
            </a:r>
            <a:r>
              <a:rPr sz="135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framework.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REST</a:t>
            </a:r>
            <a:r>
              <a:rPr sz="1350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API:</a:t>
            </a:r>
            <a:r>
              <a:rPr sz="135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262424"/>
                </a:solidFill>
                <a:latin typeface="Tahoma"/>
                <a:cs typeface="Tahoma"/>
              </a:rPr>
              <a:t>Seamless</a:t>
            </a:r>
            <a:r>
              <a:rPr sz="135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r>
              <a:rPr sz="135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exchange</a:t>
            </a:r>
            <a:r>
              <a:rPr sz="135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350" spc="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integration.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67275" y="5038725"/>
            <a:ext cx="5962650" cy="2305050"/>
            <a:chOff x="4867275" y="5038725"/>
            <a:chExt cx="5962650" cy="2305050"/>
          </a:xfrm>
        </p:grpSpPr>
        <p:sp>
          <p:nvSpPr>
            <p:cNvPr id="17" name="object 17"/>
            <p:cNvSpPr/>
            <p:nvPr/>
          </p:nvSpPr>
          <p:spPr>
            <a:xfrm>
              <a:off x="4887163" y="5038737"/>
              <a:ext cx="5942965" cy="2305050"/>
            </a:xfrm>
            <a:custGeom>
              <a:avLst/>
              <a:gdLst/>
              <a:ahLst/>
              <a:cxnLst/>
              <a:rect l="l" t="t" r="r" b="b"/>
              <a:pathLst>
                <a:path w="5942965" h="2305050">
                  <a:moveTo>
                    <a:pt x="5942711" y="51828"/>
                  </a:moveTo>
                  <a:lnTo>
                    <a:pt x="5941225" y="44399"/>
                  </a:lnTo>
                  <a:lnTo>
                    <a:pt x="5935129" y="29692"/>
                  </a:lnTo>
                  <a:lnTo>
                    <a:pt x="5930798" y="23202"/>
                  </a:lnTo>
                  <a:lnTo>
                    <a:pt x="5925642" y="18059"/>
                  </a:lnTo>
                  <a:lnTo>
                    <a:pt x="5925401" y="17805"/>
                  </a:lnTo>
                  <a:lnTo>
                    <a:pt x="5925185" y="17576"/>
                  </a:lnTo>
                  <a:lnTo>
                    <a:pt x="5919546" y="11950"/>
                  </a:lnTo>
                  <a:lnTo>
                    <a:pt x="5913056" y="7607"/>
                  </a:lnTo>
                  <a:lnTo>
                    <a:pt x="5898477" y="1562"/>
                  </a:lnTo>
                  <a:lnTo>
                    <a:pt x="5898604" y="1562"/>
                  </a:lnTo>
                  <a:lnTo>
                    <a:pt x="589070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5882741" y="19050"/>
                  </a:lnTo>
                  <a:lnTo>
                    <a:pt x="5911951" y="31356"/>
                  </a:lnTo>
                  <a:lnTo>
                    <a:pt x="5916955" y="37350"/>
                  </a:lnTo>
                  <a:lnTo>
                    <a:pt x="5920740" y="44399"/>
                  </a:lnTo>
                  <a:lnTo>
                    <a:pt x="5922950" y="51828"/>
                  </a:lnTo>
                  <a:lnTo>
                    <a:pt x="5923699" y="60007"/>
                  </a:lnTo>
                  <a:lnTo>
                    <a:pt x="5923699" y="2245042"/>
                  </a:lnTo>
                  <a:lnTo>
                    <a:pt x="5911774" y="2273909"/>
                  </a:lnTo>
                  <a:lnTo>
                    <a:pt x="5882741" y="2286000"/>
                  </a:lnTo>
                  <a:lnTo>
                    <a:pt x="75349" y="2286000"/>
                  </a:lnTo>
                  <a:lnTo>
                    <a:pt x="33007" y="2276373"/>
                  </a:lnTo>
                  <a:lnTo>
                    <a:pt x="1079" y="2243709"/>
                  </a:lnTo>
                  <a:lnTo>
                    <a:pt x="0" y="2239607"/>
                  </a:lnTo>
                  <a:lnTo>
                    <a:pt x="609" y="2243709"/>
                  </a:lnTo>
                  <a:lnTo>
                    <a:pt x="21463" y="2282723"/>
                  </a:lnTo>
                  <a:lnTo>
                    <a:pt x="60490" y="2303589"/>
                  </a:lnTo>
                  <a:lnTo>
                    <a:pt x="75349" y="2305050"/>
                  </a:lnTo>
                  <a:lnTo>
                    <a:pt x="5890704" y="2305050"/>
                  </a:lnTo>
                  <a:lnTo>
                    <a:pt x="5897994" y="2303589"/>
                  </a:lnTo>
                  <a:lnTo>
                    <a:pt x="5898185" y="2303589"/>
                  </a:lnTo>
                  <a:lnTo>
                    <a:pt x="5913056" y="2297430"/>
                  </a:lnTo>
                  <a:lnTo>
                    <a:pt x="5919546" y="2293099"/>
                  </a:lnTo>
                  <a:lnTo>
                    <a:pt x="5925655" y="2286990"/>
                  </a:lnTo>
                  <a:lnTo>
                    <a:pt x="5930798" y="2281834"/>
                  </a:lnTo>
                  <a:lnTo>
                    <a:pt x="5935129" y="2275344"/>
                  </a:lnTo>
                  <a:lnTo>
                    <a:pt x="5941187" y="2260752"/>
                  </a:lnTo>
                  <a:lnTo>
                    <a:pt x="5942711" y="2253208"/>
                  </a:lnTo>
                  <a:lnTo>
                    <a:pt x="5942711" y="51828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67275" y="5038725"/>
              <a:ext cx="76200" cy="2305050"/>
            </a:xfrm>
            <a:custGeom>
              <a:avLst/>
              <a:gdLst/>
              <a:ahLst/>
              <a:cxnLst/>
              <a:rect l="l" t="t" r="r" b="b"/>
              <a:pathLst>
                <a:path w="76200" h="2305050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2245043"/>
                  </a:lnTo>
                  <a:lnTo>
                    <a:pt x="0" y="2248982"/>
                  </a:lnTo>
                  <a:lnTo>
                    <a:pt x="14782" y="2284686"/>
                  </a:lnTo>
                  <a:lnTo>
                    <a:pt x="52158" y="2304663"/>
                  </a:lnTo>
                  <a:lnTo>
                    <a:pt x="76200" y="230505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72075" y="5714999"/>
              <a:ext cx="57150" cy="1333500"/>
            </a:xfrm>
            <a:custGeom>
              <a:avLst/>
              <a:gdLst/>
              <a:ahLst/>
              <a:cxnLst/>
              <a:rect l="l" t="t" r="r" b="b"/>
              <a:pathLst>
                <a:path w="57150" h="1333500">
                  <a:moveTo>
                    <a:pt x="57150" y="1301140"/>
                  </a:moveTo>
                  <a:lnTo>
                    <a:pt x="32346" y="1276362"/>
                  </a:lnTo>
                  <a:lnTo>
                    <a:pt x="24790" y="1276362"/>
                  </a:lnTo>
                  <a:lnTo>
                    <a:pt x="0" y="1301140"/>
                  </a:lnTo>
                  <a:lnTo>
                    <a:pt x="0" y="1308722"/>
                  </a:lnTo>
                  <a:lnTo>
                    <a:pt x="24790" y="1333500"/>
                  </a:lnTo>
                  <a:lnTo>
                    <a:pt x="32346" y="1333500"/>
                  </a:lnTo>
                  <a:lnTo>
                    <a:pt x="57150" y="1308722"/>
                  </a:lnTo>
                  <a:lnTo>
                    <a:pt x="57150" y="1304937"/>
                  </a:lnTo>
                  <a:lnTo>
                    <a:pt x="57150" y="1301140"/>
                  </a:lnTo>
                  <a:close/>
                </a:path>
                <a:path w="57150" h="1333500">
                  <a:moveTo>
                    <a:pt x="57150" y="967765"/>
                  </a:moveTo>
                  <a:lnTo>
                    <a:pt x="32346" y="942987"/>
                  </a:lnTo>
                  <a:lnTo>
                    <a:pt x="24790" y="942987"/>
                  </a:lnTo>
                  <a:lnTo>
                    <a:pt x="0" y="967765"/>
                  </a:lnTo>
                  <a:lnTo>
                    <a:pt x="0" y="975347"/>
                  </a:lnTo>
                  <a:lnTo>
                    <a:pt x="24790" y="1000125"/>
                  </a:lnTo>
                  <a:lnTo>
                    <a:pt x="32346" y="1000125"/>
                  </a:lnTo>
                  <a:lnTo>
                    <a:pt x="57150" y="975347"/>
                  </a:lnTo>
                  <a:lnTo>
                    <a:pt x="57150" y="971562"/>
                  </a:lnTo>
                  <a:lnTo>
                    <a:pt x="57150" y="967765"/>
                  </a:lnTo>
                  <a:close/>
                </a:path>
                <a:path w="57150" h="1333500">
                  <a:moveTo>
                    <a:pt x="57150" y="634390"/>
                  </a:moveTo>
                  <a:lnTo>
                    <a:pt x="32346" y="609600"/>
                  </a:lnTo>
                  <a:lnTo>
                    <a:pt x="24790" y="609600"/>
                  </a:lnTo>
                  <a:lnTo>
                    <a:pt x="0" y="634390"/>
                  </a:lnTo>
                  <a:lnTo>
                    <a:pt x="0" y="641959"/>
                  </a:lnTo>
                  <a:lnTo>
                    <a:pt x="24790" y="666750"/>
                  </a:lnTo>
                  <a:lnTo>
                    <a:pt x="32346" y="666750"/>
                  </a:lnTo>
                  <a:lnTo>
                    <a:pt x="57150" y="641959"/>
                  </a:lnTo>
                  <a:lnTo>
                    <a:pt x="57150" y="638175"/>
                  </a:lnTo>
                  <a:lnTo>
                    <a:pt x="57150" y="634390"/>
                  </a:lnTo>
                  <a:close/>
                </a:path>
                <a:path w="57150" h="1333500">
                  <a:moveTo>
                    <a:pt x="57150" y="24790"/>
                  </a:moveTo>
                  <a:lnTo>
                    <a:pt x="32346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46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26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121275" y="5211762"/>
            <a:ext cx="4942205" cy="1903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35" dirty="0">
                <a:solidFill>
                  <a:srgbClr val="262424"/>
                </a:solidFill>
                <a:latin typeface="Tahoma"/>
                <a:cs typeface="Tahoma"/>
              </a:rPr>
              <a:t>AI/ML</a:t>
            </a:r>
            <a:r>
              <a:rPr sz="1650" b="1" spc="-1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Tools</a:t>
            </a:r>
            <a:endParaRPr sz="1650">
              <a:latin typeface="Tahoma"/>
              <a:cs typeface="Tahoma"/>
            </a:endParaRPr>
          </a:p>
          <a:p>
            <a:pPr marL="286385" marR="5080">
              <a:lnSpc>
                <a:spcPct val="134300"/>
              </a:lnSpc>
              <a:spcBef>
                <a:spcPts val="540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Pandas</a:t>
            </a:r>
            <a:r>
              <a:rPr sz="135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Tahoma"/>
                <a:cs typeface="Tahoma"/>
              </a:rPr>
              <a:t>&amp;</a:t>
            </a:r>
            <a:r>
              <a:rPr sz="1350" spc="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NumPy:</a:t>
            </a:r>
            <a:r>
              <a:rPr sz="135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Efficient</a:t>
            </a:r>
            <a:r>
              <a:rPr sz="1350" spc="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r>
              <a:rPr sz="135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manipulation</a:t>
            </a:r>
            <a:r>
              <a:rPr sz="1350" spc="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and</a:t>
            </a:r>
            <a:r>
              <a:rPr sz="1350" spc="2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numerical operations.</a:t>
            </a:r>
            <a:endParaRPr sz="135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Matplotlib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Tahoma"/>
                <a:cs typeface="Tahoma"/>
              </a:rPr>
              <a:t>&amp;</a:t>
            </a:r>
            <a:r>
              <a:rPr sz="135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Seaborn: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262424"/>
                </a:solidFill>
                <a:latin typeface="Tahoma"/>
                <a:cs typeface="Tahoma"/>
              </a:rPr>
              <a:t>Advanced</a:t>
            </a:r>
            <a:r>
              <a:rPr sz="135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data</a:t>
            </a:r>
            <a:r>
              <a:rPr sz="1350" spc="-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visualization.</a:t>
            </a:r>
            <a:endParaRPr sz="1350">
              <a:latin typeface="Tahoma"/>
              <a:cs typeface="Tahoma"/>
            </a:endParaRPr>
          </a:p>
          <a:p>
            <a:pPr marL="286385" marR="173990">
              <a:lnSpc>
                <a:spcPct val="162000"/>
              </a:lnSpc>
            </a:pP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NLTK</a:t>
            </a:r>
            <a:r>
              <a:rPr sz="135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55" dirty="0">
                <a:solidFill>
                  <a:srgbClr val="262424"/>
                </a:solidFill>
                <a:latin typeface="Tahoma"/>
                <a:cs typeface="Tahoma"/>
              </a:rPr>
              <a:t>&amp;</a:t>
            </a:r>
            <a:r>
              <a:rPr sz="135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262424"/>
                </a:solidFill>
                <a:latin typeface="Tahoma"/>
                <a:cs typeface="Tahoma"/>
              </a:rPr>
              <a:t>re:</a:t>
            </a:r>
            <a:r>
              <a:rPr sz="135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Natural</a:t>
            </a:r>
            <a:r>
              <a:rPr sz="135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Language</a:t>
            </a:r>
            <a:r>
              <a:rPr sz="135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Processing</a:t>
            </a:r>
            <a:r>
              <a:rPr sz="1350" spc="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35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text</a:t>
            </a:r>
            <a:r>
              <a:rPr sz="135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analysis.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Joblib:</a:t>
            </a:r>
            <a:r>
              <a:rPr sz="1350" spc="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For</a:t>
            </a:r>
            <a:r>
              <a:rPr sz="1350" spc="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efficient</a:t>
            </a:r>
            <a:r>
              <a:rPr sz="1350" spc="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424"/>
                </a:solidFill>
                <a:latin typeface="Tahoma"/>
                <a:cs typeface="Tahoma"/>
              </a:rPr>
              <a:t>model</a:t>
            </a:r>
            <a:r>
              <a:rPr sz="1350" spc="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424"/>
                </a:solidFill>
                <a:latin typeface="Tahoma"/>
                <a:cs typeface="Tahoma"/>
              </a:rPr>
              <a:t>persistence.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21" name="object 21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7297673"/>
            <a:ext cx="1754504" cy="419100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5A53824-BE9D-0AB9-9A4D-551777F964E6}"/>
              </a:ext>
            </a:extLst>
          </p:cNvPr>
          <p:cNvSpPr/>
          <p:nvPr/>
        </p:nvSpPr>
        <p:spPr>
          <a:xfrm>
            <a:off x="9580244" y="7343775"/>
            <a:ext cx="1754504" cy="372998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00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21431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00075" y="2619375"/>
            <a:ext cx="1228725" cy="314325"/>
          </a:xfrm>
          <a:custGeom>
            <a:avLst/>
            <a:gdLst/>
            <a:ahLst/>
            <a:cxnLst/>
            <a:rect l="l" t="t" r="r" b="b"/>
            <a:pathLst>
              <a:path w="1228725" h="314325">
                <a:moveTo>
                  <a:pt x="1187081" y="0"/>
                </a:moveTo>
                <a:lnTo>
                  <a:pt x="41642" y="0"/>
                </a:lnTo>
                <a:lnTo>
                  <a:pt x="35515" y="1219"/>
                </a:lnTo>
                <a:lnTo>
                  <a:pt x="1220" y="35509"/>
                </a:lnTo>
                <a:lnTo>
                  <a:pt x="0" y="41643"/>
                </a:lnTo>
                <a:lnTo>
                  <a:pt x="0" y="266319"/>
                </a:lnTo>
                <a:lnTo>
                  <a:pt x="0" y="272681"/>
                </a:lnTo>
                <a:lnTo>
                  <a:pt x="23752" y="308229"/>
                </a:lnTo>
                <a:lnTo>
                  <a:pt x="41642" y="314325"/>
                </a:lnTo>
                <a:lnTo>
                  <a:pt x="1187081" y="314325"/>
                </a:lnTo>
                <a:lnTo>
                  <a:pt x="1222629" y="290576"/>
                </a:lnTo>
                <a:lnTo>
                  <a:pt x="1228725" y="272681"/>
                </a:lnTo>
                <a:lnTo>
                  <a:pt x="1228725" y="41643"/>
                </a:lnTo>
                <a:lnTo>
                  <a:pt x="1204976" y="6096"/>
                </a:lnTo>
                <a:lnTo>
                  <a:pt x="1193215" y="1219"/>
                </a:lnTo>
                <a:lnTo>
                  <a:pt x="1187081" y="0"/>
                </a:lnTo>
                <a:close/>
              </a:path>
            </a:pathLst>
          </a:custGeom>
          <a:solidFill>
            <a:srgbClr val="DADB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0215" y="2679064"/>
            <a:ext cx="104775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10" dirty="0">
                <a:solidFill>
                  <a:srgbClr val="262424"/>
                </a:solidFill>
                <a:latin typeface="Tahoma"/>
                <a:cs typeface="Tahoma"/>
              </a:rPr>
              <a:t>AI</a:t>
            </a:r>
            <a:r>
              <a:rPr sz="1050" spc="-5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262424"/>
                </a:solidFill>
                <a:latin typeface="Tahoma"/>
                <a:cs typeface="Tahoma"/>
              </a:rPr>
              <a:t>AT</a:t>
            </a:r>
            <a:r>
              <a:rPr sz="1050" spc="-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050" spc="50" dirty="0">
                <a:solidFill>
                  <a:srgbClr val="262424"/>
                </a:solidFill>
                <a:latin typeface="Tahoma"/>
                <a:cs typeface="Tahoma"/>
              </a:rPr>
              <a:t>THE</a:t>
            </a:r>
            <a:r>
              <a:rPr sz="1050" spc="-4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050" spc="40" dirty="0">
                <a:solidFill>
                  <a:srgbClr val="262424"/>
                </a:solidFill>
                <a:latin typeface="Tahoma"/>
                <a:cs typeface="Tahoma"/>
              </a:rPr>
              <a:t>CORE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2987675"/>
            <a:ext cx="505015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Intelligent</a:t>
            </a:r>
            <a:r>
              <a:rPr spc="-254" dirty="0"/>
              <a:t> </a:t>
            </a:r>
            <a:r>
              <a:rPr spc="-60" dirty="0"/>
              <a:t>Models</a:t>
            </a:r>
            <a:r>
              <a:rPr spc="-250" dirty="0"/>
              <a:t> </a:t>
            </a:r>
            <a:r>
              <a:rPr spc="-130" dirty="0"/>
              <a:t>Driving</a:t>
            </a:r>
            <a:r>
              <a:rPr spc="-250" dirty="0"/>
              <a:t> </a:t>
            </a:r>
            <a:r>
              <a:rPr spc="-20" dirty="0"/>
              <a:t>NEXO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00074" y="3736975"/>
            <a:ext cx="5029200" cy="2609850"/>
            <a:chOff x="600074" y="3695700"/>
            <a:chExt cx="5029200" cy="2609850"/>
          </a:xfrm>
        </p:grpSpPr>
        <p:sp>
          <p:nvSpPr>
            <p:cNvPr id="7" name="object 7"/>
            <p:cNvSpPr/>
            <p:nvPr/>
          </p:nvSpPr>
          <p:spPr>
            <a:xfrm>
              <a:off x="600062" y="3953725"/>
              <a:ext cx="5029200" cy="2352040"/>
            </a:xfrm>
            <a:custGeom>
              <a:avLst/>
              <a:gdLst/>
              <a:ahLst/>
              <a:cxnLst/>
              <a:rect l="l" t="t" r="r" b="b"/>
              <a:pathLst>
                <a:path w="5029200" h="2352040">
                  <a:moveTo>
                    <a:pt x="5029200" y="75361"/>
                  </a:moveTo>
                  <a:lnTo>
                    <a:pt x="5016373" y="33020"/>
                  </a:lnTo>
                  <a:lnTo>
                    <a:pt x="4982159" y="4965"/>
                  </a:lnTo>
                  <a:lnTo>
                    <a:pt x="4963769" y="0"/>
                  </a:lnTo>
                  <a:lnTo>
                    <a:pt x="4967871" y="1092"/>
                  </a:lnTo>
                  <a:lnTo>
                    <a:pt x="4981867" y="8826"/>
                  </a:lnTo>
                  <a:lnTo>
                    <a:pt x="5005794" y="46202"/>
                  </a:lnTo>
                  <a:lnTo>
                    <a:pt x="5010150" y="75361"/>
                  </a:lnTo>
                  <a:lnTo>
                    <a:pt x="5010150" y="2291829"/>
                  </a:lnTo>
                  <a:lnTo>
                    <a:pt x="4997640" y="2321217"/>
                  </a:lnTo>
                  <a:lnTo>
                    <a:pt x="4991849" y="2326030"/>
                  </a:lnTo>
                  <a:lnTo>
                    <a:pt x="4984928" y="2329777"/>
                  </a:lnTo>
                  <a:lnTo>
                    <a:pt x="4977371" y="2332024"/>
                  </a:lnTo>
                  <a:lnTo>
                    <a:pt x="4969192" y="2332786"/>
                  </a:lnTo>
                  <a:lnTo>
                    <a:pt x="60007" y="2332786"/>
                  </a:lnTo>
                  <a:lnTo>
                    <a:pt x="51841" y="2332024"/>
                  </a:lnTo>
                  <a:lnTo>
                    <a:pt x="44284" y="2329777"/>
                  </a:lnTo>
                  <a:lnTo>
                    <a:pt x="37363" y="2326030"/>
                  </a:lnTo>
                  <a:lnTo>
                    <a:pt x="31559" y="2321229"/>
                  </a:lnTo>
                  <a:lnTo>
                    <a:pt x="31051" y="2320785"/>
                  </a:lnTo>
                  <a:lnTo>
                    <a:pt x="25806" y="2314473"/>
                  </a:lnTo>
                  <a:lnTo>
                    <a:pt x="22059" y="2307552"/>
                  </a:lnTo>
                  <a:lnTo>
                    <a:pt x="19812" y="2299995"/>
                  </a:lnTo>
                  <a:lnTo>
                    <a:pt x="19050" y="2291829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2299779"/>
                  </a:lnTo>
                  <a:lnTo>
                    <a:pt x="1524" y="2307437"/>
                  </a:lnTo>
                  <a:lnTo>
                    <a:pt x="7620" y="2322144"/>
                  </a:lnTo>
                  <a:lnTo>
                    <a:pt x="11950" y="2328634"/>
                  </a:lnTo>
                  <a:lnTo>
                    <a:pt x="17576" y="2334260"/>
                  </a:lnTo>
                  <a:lnTo>
                    <a:pt x="23202" y="2339886"/>
                  </a:lnTo>
                  <a:lnTo>
                    <a:pt x="29692" y="2344216"/>
                  </a:lnTo>
                  <a:lnTo>
                    <a:pt x="44399" y="2350312"/>
                  </a:lnTo>
                  <a:lnTo>
                    <a:pt x="52057" y="2351836"/>
                  </a:lnTo>
                  <a:lnTo>
                    <a:pt x="4977155" y="2351836"/>
                  </a:lnTo>
                  <a:lnTo>
                    <a:pt x="4984801" y="2350312"/>
                  </a:lnTo>
                  <a:lnTo>
                    <a:pt x="4999507" y="2344216"/>
                  </a:lnTo>
                  <a:lnTo>
                    <a:pt x="5005997" y="2339886"/>
                  </a:lnTo>
                  <a:lnTo>
                    <a:pt x="5011153" y="2334730"/>
                  </a:lnTo>
                  <a:lnTo>
                    <a:pt x="5011623" y="2334260"/>
                  </a:lnTo>
                  <a:lnTo>
                    <a:pt x="5017249" y="2328634"/>
                  </a:lnTo>
                  <a:lnTo>
                    <a:pt x="5021580" y="2322144"/>
                  </a:lnTo>
                  <a:lnTo>
                    <a:pt x="5027638" y="2307552"/>
                  </a:lnTo>
                  <a:lnTo>
                    <a:pt x="5029162" y="2299995"/>
                  </a:lnTo>
                  <a:lnTo>
                    <a:pt x="5029200" y="75361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0075" y="3695699"/>
              <a:ext cx="5029200" cy="514350"/>
            </a:xfrm>
            <a:custGeom>
              <a:avLst/>
              <a:gdLst/>
              <a:ahLst/>
              <a:cxnLst/>
              <a:rect l="l" t="t" r="r" b="b"/>
              <a:pathLst>
                <a:path w="5029200" h="514350">
                  <a:moveTo>
                    <a:pt x="5029200" y="294195"/>
                  </a:moveTo>
                  <a:lnTo>
                    <a:pt x="5014404" y="258495"/>
                  </a:lnTo>
                  <a:lnTo>
                    <a:pt x="4977041" y="238518"/>
                  </a:lnTo>
                  <a:lnTo>
                    <a:pt x="4973129" y="238125"/>
                  </a:lnTo>
                  <a:lnTo>
                    <a:pt x="2771140" y="238125"/>
                  </a:lnTo>
                  <a:lnTo>
                    <a:pt x="2769717" y="223596"/>
                  </a:lnTo>
                  <a:lnTo>
                    <a:pt x="2758262" y="174459"/>
                  </a:lnTo>
                  <a:lnTo>
                    <a:pt x="2737434" y="128511"/>
                  </a:lnTo>
                  <a:lnTo>
                    <a:pt x="2708059" y="87515"/>
                  </a:lnTo>
                  <a:lnTo>
                    <a:pt x="2671241" y="53047"/>
                  </a:lnTo>
                  <a:lnTo>
                    <a:pt x="2628404" y="26403"/>
                  </a:lnTo>
                  <a:lnTo>
                    <a:pt x="2581198" y="8623"/>
                  </a:lnTo>
                  <a:lnTo>
                    <a:pt x="2531427" y="419"/>
                  </a:lnTo>
                  <a:lnTo>
                    <a:pt x="2523020" y="0"/>
                  </a:lnTo>
                  <a:lnTo>
                    <a:pt x="2506180" y="0"/>
                  </a:lnTo>
                  <a:lnTo>
                    <a:pt x="2456154" y="6578"/>
                  </a:lnTo>
                  <a:lnTo>
                    <a:pt x="2408402" y="22796"/>
                  </a:lnTo>
                  <a:lnTo>
                    <a:pt x="2364714" y="48018"/>
                  </a:lnTo>
                  <a:lnTo>
                    <a:pt x="2326792" y="81280"/>
                  </a:lnTo>
                  <a:lnTo>
                    <a:pt x="2296083" y="121310"/>
                  </a:lnTo>
                  <a:lnTo>
                    <a:pt x="2273782" y="166535"/>
                  </a:lnTo>
                  <a:lnTo>
                    <a:pt x="2260727" y="215265"/>
                  </a:lnTo>
                  <a:lnTo>
                    <a:pt x="2258047" y="238125"/>
                  </a:lnTo>
                  <a:lnTo>
                    <a:pt x="56057" y="238125"/>
                  </a:lnTo>
                  <a:lnTo>
                    <a:pt x="20358" y="252907"/>
                  </a:lnTo>
                  <a:lnTo>
                    <a:pt x="381" y="290296"/>
                  </a:lnTo>
                  <a:lnTo>
                    <a:pt x="0" y="294195"/>
                  </a:lnTo>
                  <a:lnTo>
                    <a:pt x="0" y="314325"/>
                  </a:lnTo>
                  <a:lnTo>
                    <a:pt x="2263724" y="314325"/>
                  </a:lnTo>
                  <a:lnTo>
                    <a:pt x="2263991" y="315620"/>
                  </a:lnTo>
                  <a:lnTo>
                    <a:pt x="2280208" y="363372"/>
                  </a:lnTo>
                  <a:lnTo>
                    <a:pt x="2305443" y="407060"/>
                  </a:lnTo>
                  <a:lnTo>
                    <a:pt x="2338705" y="444982"/>
                  </a:lnTo>
                  <a:lnTo>
                    <a:pt x="2378722" y="475691"/>
                  </a:lnTo>
                  <a:lnTo>
                    <a:pt x="2423960" y="497992"/>
                  </a:lnTo>
                  <a:lnTo>
                    <a:pt x="2472690" y="511048"/>
                  </a:lnTo>
                  <a:lnTo>
                    <a:pt x="2506180" y="514350"/>
                  </a:lnTo>
                  <a:lnTo>
                    <a:pt x="2523020" y="514350"/>
                  </a:lnTo>
                  <a:lnTo>
                    <a:pt x="2573032" y="507771"/>
                  </a:lnTo>
                  <a:lnTo>
                    <a:pt x="2620797" y="491553"/>
                  </a:lnTo>
                  <a:lnTo>
                    <a:pt x="2664485" y="466331"/>
                  </a:lnTo>
                  <a:lnTo>
                    <a:pt x="2702407" y="433070"/>
                  </a:lnTo>
                  <a:lnTo>
                    <a:pt x="2733116" y="393052"/>
                  </a:lnTo>
                  <a:lnTo>
                    <a:pt x="2755430" y="347814"/>
                  </a:lnTo>
                  <a:lnTo>
                    <a:pt x="2765450" y="314325"/>
                  </a:lnTo>
                  <a:lnTo>
                    <a:pt x="5029200" y="314325"/>
                  </a:lnTo>
                  <a:lnTo>
                    <a:pt x="5029200" y="294195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5345" y="3845348"/>
              <a:ext cx="214786" cy="21117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77875" y="4364037"/>
            <a:ext cx="4638675" cy="177933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55" dirty="0">
                <a:solidFill>
                  <a:srgbClr val="262424"/>
                </a:solidFill>
                <a:latin typeface="Tahoma"/>
                <a:cs typeface="Tahoma"/>
              </a:rPr>
              <a:t>Product</a:t>
            </a:r>
            <a:r>
              <a:rPr sz="1650" b="1" spc="-114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60" dirty="0">
                <a:solidFill>
                  <a:srgbClr val="262424"/>
                </a:solidFill>
                <a:latin typeface="Tahoma"/>
                <a:cs typeface="Tahoma"/>
              </a:rPr>
              <a:t>Engagement</a:t>
            </a:r>
            <a:r>
              <a:rPr sz="1650" b="1" spc="-11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Ranking</a:t>
            </a:r>
            <a:endParaRPr sz="1650" dirty="0">
              <a:latin typeface="Tahoma"/>
              <a:cs typeface="Tahoma"/>
            </a:endParaRPr>
          </a:p>
          <a:p>
            <a:r>
              <a:rPr lang="en-GB" sz="1400" dirty="0"/>
              <a:t>Our AI system ranks products based on how users interact with them -like how many times they are viewed, clicked, added to Wishlist, or added to cart.</a:t>
            </a:r>
          </a:p>
          <a:p>
            <a:r>
              <a:rPr lang="en-GB" sz="1400" dirty="0"/>
              <a:t>If a product gets more attention from users, it moves higher in the ranking. This helps show the most popular and relevant products at the top, improving user experience and increasing sales.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5800724" y="3736975"/>
            <a:ext cx="5534025" cy="2990850"/>
            <a:chOff x="5800724" y="3695700"/>
            <a:chExt cx="5534025" cy="2990850"/>
          </a:xfrm>
        </p:grpSpPr>
        <p:sp>
          <p:nvSpPr>
            <p:cNvPr id="12" name="object 12"/>
            <p:cNvSpPr/>
            <p:nvPr/>
          </p:nvSpPr>
          <p:spPr>
            <a:xfrm>
              <a:off x="5800712" y="3953725"/>
              <a:ext cx="5029200" cy="2352040"/>
            </a:xfrm>
            <a:custGeom>
              <a:avLst/>
              <a:gdLst/>
              <a:ahLst/>
              <a:cxnLst/>
              <a:rect l="l" t="t" r="r" b="b"/>
              <a:pathLst>
                <a:path w="5029200" h="2352040">
                  <a:moveTo>
                    <a:pt x="5029200" y="75361"/>
                  </a:moveTo>
                  <a:lnTo>
                    <a:pt x="5016373" y="33020"/>
                  </a:lnTo>
                  <a:lnTo>
                    <a:pt x="4982159" y="4965"/>
                  </a:lnTo>
                  <a:lnTo>
                    <a:pt x="4963757" y="0"/>
                  </a:lnTo>
                  <a:lnTo>
                    <a:pt x="4967871" y="1092"/>
                  </a:lnTo>
                  <a:lnTo>
                    <a:pt x="4981867" y="8826"/>
                  </a:lnTo>
                  <a:lnTo>
                    <a:pt x="5005794" y="46202"/>
                  </a:lnTo>
                  <a:lnTo>
                    <a:pt x="5010150" y="75361"/>
                  </a:lnTo>
                  <a:lnTo>
                    <a:pt x="5010150" y="2291829"/>
                  </a:lnTo>
                  <a:lnTo>
                    <a:pt x="4997640" y="2321217"/>
                  </a:lnTo>
                  <a:lnTo>
                    <a:pt x="4991849" y="2326030"/>
                  </a:lnTo>
                  <a:lnTo>
                    <a:pt x="4984928" y="2329777"/>
                  </a:lnTo>
                  <a:lnTo>
                    <a:pt x="4977371" y="2332024"/>
                  </a:lnTo>
                  <a:lnTo>
                    <a:pt x="4969192" y="2332786"/>
                  </a:lnTo>
                  <a:lnTo>
                    <a:pt x="60007" y="2332786"/>
                  </a:lnTo>
                  <a:lnTo>
                    <a:pt x="51841" y="2332024"/>
                  </a:lnTo>
                  <a:lnTo>
                    <a:pt x="44284" y="2329777"/>
                  </a:lnTo>
                  <a:lnTo>
                    <a:pt x="37363" y="2326030"/>
                  </a:lnTo>
                  <a:lnTo>
                    <a:pt x="31559" y="2321229"/>
                  </a:lnTo>
                  <a:lnTo>
                    <a:pt x="31051" y="2320785"/>
                  </a:lnTo>
                  <a:lnTo>
                    <a:pt x="25806" y="2314473"/>
                  </a:lnTo>
                  <a:lnTo>
                    <a:pt x="22059" y="2307552"/>
                  </a:lnTo>
                  <a:lnTo>
                    <a:pt x="19812" y="2299995"/>
                  </a:lnTo>
                  <a:lnTo>
                    <a:pt x="19050" y="2291829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2299779"/>
                  </a:lnTo>
                  <a:lnTo>
                    <a:pt x="1524" y="2307437"/>
                  </a:lnTo>
                  <a:lnTo>
                    <a:pt x="7607" y="2322144"/>
                  </a:lnTo>
                  <a:lnTo>
                    <a:pt x="11950" y="2328634"/>
                  </a:lnTo>
                  <a:lnTo>
                    <a:pt x="17805" y="2334488"/>
                  </a:lnTo>
                  <a:lnTo>
                    <a:pt x="23202" y="2339886"/>
                  </a:lnTo>
                  <a:lnTo>
                    <a:pt x="29692" y="2344216"/>
                  </a:lnTo>
                  <a:lnTo>
                    <a:pt x="44399" y="2350312"/>
                  </a:lnTo>
                  <a:lnTo>
                    <a:pt x="52044" y="2351836"/>
                  </a:lnTo>
                  <a:lnTo>
                    <a:pt x="4977155" y="2351836"/>
                  </a:lnTo>
                  <a:lnTo>
                    <a:pt x="4984801" y="2350312"/>
                  </a:lnTo>
                  <a:lnTo>
                    <a:pt x="4999507" y="2344216"/>
                  </a:lnTo>
                  <a:lnTo>
                    <a:pt x="5005997" y="2339886"/>
                  </a:lnTo>
                  <a:lnTo>
                    <a:pt x="5011153" y="2334730"/>
                  </a:lnTo>
                  <a:lnTo>
                    <a:pt x="5011623" y="2334260"/>
                  </a:lnTo>
                  <a:lnTo>
                    <a:pt x="5017249" y="2328634"/>
                  </a:lnTo>
                  <a:lnTo>
                    <a:pt x="5021580" y="2322144"/>
                  </a:lnTo>
                  <a:lnTo>
                    <a:pt x="5027638" y="2307552"/>
                  </a:lnTo>
                  <a:lnTo>
                    <a:pt x="5029162" y="2299995"/>
                  </a:lnTo>
                  <a:lnTo>
                    <a:pt x="5029200" y="75361"/>
                  </a:lnTo>
                  <a:close/>
                </a:path>
              </a:pathLst>
            </a:custGeom>
            <a:solidFill>
              <a:srgbClr val="BFC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00725" y="3695699"/>
              <a:ext cx="5029200" cy="514350"/>
            </a:xfrm>
            <a:custGeom>
              <a:avLst/>
              <a:gdLst/>
              <a:ahLst/>
              <a:cxnLst/>
              <a:rect l="l" t="t" r="r" b="b"/>
              <a:pathLst>
                <a:path w="5029200" h="514350">
                  <a:moveTo>
                    <a:pt x="5029200" y="294195"/>
                  </a:moveTo>
                  <a:lnTo>
                    <a:pt x="5014417" y="258495"/>
                  </a:lnTo>
                  <a:lnTo>
                    <a:pt x="4977041" y="238518"/>
                  </a:lnTo>
                  <a:lnTo>
                    <a:pt x="4973129" y="238125"/>
                  </a:lnTo>
                  <a:lnTo>
                    <a:pt x="2771140" y="238125"/>
                  </a:lnTo>
                  <a:lnTo>
                    <a:pt x="2769717" y="223596"/>
                  </a:lnTo>
                  <a:lnTo>
                    <a:pt x="2758262" y="174459"/>
                  </a:lnTo>
                  <a:lnTo>
                    <a:pt x="2737434" y="128511"/>
                  </a:lnTo>
                  <a:lnTo>
                    <a:pt x="2708059" y="87515"/>
                  </a:lnTo>
                  <a:lnTo>
                    <a:pt x="2671241" y="53047"/>
                  </a:lnTo>
                  <a:lnTo>
                    <a:pt x="2628404" y="26403"/>
                  </a:lnTo>
                  <a:lnTo>
                    <a:pt x="2581198" y="8623"/>
                  </a:lnTo>
                  <a:lnTo>
                    <a:pt x="2531427" y="419"/>
                  </a:lnTo>
                  <a:lnTo>
                    <a:pt x="2523020" y="0"/>
                  </a:lnTo>
                  <a:lnTo>
                    <a:pt x="2506180" y="0"/>
                  </a:lnTo>
                  <a:lnTo>
                    <a:pt x="2456167" y="6578"/>
                  </a:lnTo>
                  <a:lnTo>
                    <a:pt x="2408402" y="22796"/>
                  </a:lnTo>
                  <a:lnTo>
                    <a:pt x="2364714" y="48018"/>
                  </a:lnTo>
                  <a:lnTo>
                    <a:pt x="2326792" y="81280"/>
                  </a:lnTo>
                  <a:lnTo>
                    <a:pt x="2296083" y="121310"/>
                  </a:lnTo>
                  <a:lnTo>
                    <a:pt x="2273782" y="166535"/>
                  </a:lnTo>
                  <a:lnTo>
                    <a:pt x="2260727" y="215265"/>
                  </a:lnTo>
                  <a:lnTo>
                    <a:pt x="2258047" y="238125"/>
                  </a:lnTo>
                  <a:lnTo>
                    <a:pt x="56057" y="238125"/>
                  </a:lnTo>
                  <a:lnTo>
                    <a:pt x="20358" y="252907"/>
                  </a:lnTo>
                  <a:lnTo>
                    <a:pt x="381" y="290296"/>
                  </a:lnTo>
                  <a:lnTo>
                    <a:pt x="0" y="294195"/>
                  </a:lnTo>
                  <a:lnTo>
                    <a:pt x="0" y="314325"/>
                  </a:lnTo>
                  <a:lnTo>
                    <a:pt x="2263737" y="314325"/>
                  </a:lnTo>
                  <a:lnTo>
                    <a:pt x="2264003" y="315620"/>
                  </a:lnTo>
                  <a:lnTo>
                    <a:pt x="2280221" y="363372"/>
                  </a:lnTo>
                  <a:lnTo>
                    <a:pt x="2305443" y="407060"/>
                  </a:lnTo>
                  <a:lnTo>
                    <a:pt x="2338705" y="444982"/>
                  </a:lnTo>
                  <a:lnTo>
                    <a:pt x="2378722" y="475691"/>
                  </a:lnTo>
                  <a:lnTo>
                    <a:pt x="2423960" y="497992"/>
                  </a:lnTo>
                  <a:lnTo>
                    <a:pt x="2472690" y="511048"/>
                  </a:lnTo>
                  <a:lnTo>
                    <a:pt x="2506180" y="514350"/>
                  </a:lnTo>
                  <a:lnTo>
                    <a:pt x="2523020" y="514350"/>
                  </a:lnTo>
                  <a:lnTo>
                    <a:pt x="2573032" y="507771"/>
                  </a:lnTo>
                  <a:lnTo>
                    <a:pt x="2620797" y="491553"/>
                  </a:lnTo>
                  <a:lnTo>
                    <a:pt x="2664485" y="466331"/>
                  </a:lnTo>
                  <a:lnTo>
                    <a:pt x="2702407" y="433070"/>
                  </a:lnTo>
                  <a:lnTo>
                    <a:pt x="2733116" y="393052"/>
                  </a:lnTo>
                  <a:lnTo>
                    <a:pt x="2755430" y="347814"/>
                  </a:lnTo>
                  <a:lnTo>
                    <a:pt x="2765450" y="314325"/>
                  </a:lnTo>
                  <a:lnTo>
                    <a:pt x="5029200" y="314325"/>
                  </a:lnTo>
                  <a:lnTo>
                    <a:pt x="5029200" y="294195"/>
                  </a:lnTo>
                  <a:close/>
                </a:path>
              </a:pathLst>
            </a:custGeom>
            <a:solidFill>
              <a:srgbClr val="494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10550" y="3909559"/>
              <a:ext cx="210231" cy="82630"/>
            </a:xfrm>
            <a:prstGeom prst="rect">
              <a:avLst/>
            </a:prstGeom>
          </p:spPr>
        </p:pic>
        <p:pic>
          <p:nvPicPr>
            <p:cNvPr id="15" name="object 15">
              <a:hlinkClick r:id="rId5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80245" y="6267450"/>
              <a:ext cx="1754504" cy="41910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978525" y="4364037"/>
            <a:ext cx="4566285" cy="18306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30" dirty="0">
                <a:solidFill>
                  <a:srgbClr val="262424"/>
                </a:solidFill>
                <a:latin typeface="Tahoma"/>
                <a:cs typeface="Tahoma"/>
              </a:rPr>
              <a:t>Search</a:t>
            </a:r>
            <a:r>
              <a:rPr sz="1650" b="1" spc="-8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262424"/>
                </a:solidFill>
                <a:latin typeface="Tahoma"/>
                <a:cs typeface="Tahoma"/>
              </a:rPr>
              <a:t>Success</a:t>
            </a:r>
            <a:r>
              <a:rPr sz="1650" b="1" spc="-8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262424"/>
                </a:solidFill>
                <a:latin typeface="Tahoma"/>
                <a:cs typeface="Tahoma"/>
              </a:rPr>
              <a:t>Prediction</a:t>
            </a:r>
            <a:endParaRPr lang="en-IN" sz="1650" b="1" spc="-10" dirty="0">
              <a:solidFill>
                <a:srgbClr val="262424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endParaRPr sz="1650" dirty="0">
              <a:latin typeface="Tahoma"/>
              <a:cs typeface="Tahoma"/>
            </a:endParaRPr>
          </a:p>
          <a:p>
            <a:r>
              <a:rPr lang="en-GB" sz="1400" dirty="0"/>
              <a:t>This model predicts whether a user’s search will give good results or not.</a:t>
            </a:r>
          </a:p>
          <a:p>
            <a:r>
              <a:rPr lang="en-GB" sz="1400" dirty="0"/>
              <a:t>If the system thinks the search may not show useful products, it suggests better keywords or alternative products. This helps users find what they need faster and reduces frustration.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ECC0925-BAEF-17C9-3861-929FFB35E127}"/>
              </a:ext>
            </a:extLst>
          </p:cNvPr>
          <p:cNvSpPr/>
          <p:nvPr/>
        </p:nvSpPr>
        <p:spPr>
          <a:xfrm>
            <a:off x="9576781" y="6346825"/>
            <a:ext cx="1754504" cy="520989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00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0074" y="476249"/>
            <a:ext cx="1771650" cy="314325"/>
          </a:xfrm>
          <a:custGeom>
            <a:avLst/>
            <a:gdLst/>
            <a:ahLst/>
            <a:cxnLst/>
            <a:rect l="l" t="t" r="r" b="b"/>
            <a:pathLst>
              <a:path w="1771650" h="314325">
                <a:moveTo>
                  <a:pt x="1730009" y="314324"/>
                </a:moveTo>
                <a:lnTo>
                  <a:pt x="41639" y="314324"/>
                </a:lnTo>
                <a:lnTo>
                  <a:pt x="35516" y="313106"/>
                </a:lnTo>
                <a:lnTo>
                  <a:pt x="1218" y="278808"/>
                </a:lnTo>
                <a:lnTo>
                  <a:pt x="0" y="272684"/>
                </a:lnTo>
                <a:lnTo>
                  <a:pt x="0" y="266318"/>
                </a:lnTo>
                <a:lnTo>
                  <a:pt x="0" y="41640"/>
                </a:lnTo>
                <a:lnTo>
                  <a:pt x="23753" y="6090"/>
                </a:lnTo>
                <a:lnTo>
                  <a:pt x="41639" y="0"/>
                </a:lnTo>
                <a:lnTo>
                  <a:pt x="1730009" y="0"/>
                </a:lnTo>
                <a:lnTo>
                  <a:pt x="1765559" y="23753"/>
                </a:lnTo>
                <a:lnTo>
                  <a:pt x="1771649" y="41640"/>
                </a:lnTo>
                <a:lnTo>
                  <a:pt x="1771649" y="272684"/>
                </a:lnTo>
                <a:lnTo>
                  <a:pt x="1747896" y="308234"/>
                </a:lnTo>
                <a:lnTo>
                  <a:pt x="1736133" y="313106"/>
                </a:lnTo>
                <a:lnTo>
                  <a:pt x="1730009" y="314324"/>
                </a:lnTo>
                <a:close/>
              </a:path>
            </a:pathLst>
          </a:custGeom>
          <a:solidFill>
            <a:srgbClr val="D9DA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90215" y="535940"/>
            <a:ext cx="15951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solidFill>
                  <a:srgbClr val="262525"/>
                </a:solidFill>
                <a:latin typeface="Tahoma"/>
                <a:cs typeface="Tahoma"/>
              </a:rPr>
              <a:t>INNOVATION</a:t>
            </a:r>
            <a:r>
              <a:rPr sz="1050" spc="-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050" spc="-30" dirty="0">
                <a:solidFill>
                  <a:srgbClr val="262525"/>
                </a:solidFill>
                <a:latin typeface="Tahoma"/>
                <a:cs typeface="Tahoma"/>
              </a:rPr>
              <a:t>&amp;</a:t>
            </a:r>
            <a:r>
              <a:rPr sz="1050" spc="-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050" spc="45" dirty="0">
                <a:solidFill>
                  <a:srgbClr val="262525"/>
                </a:solidFill>
                <a:latin typeface="Tahoma"/>
                <a:cs typeface="Tahoma"/>
              </a:rPr>
              <a:t>GROWTH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7374" y="844550"/>
            <a:ext cx="699452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NEXO:</a:t>
            </a:r>
            <a:r>
              <a:rPr spc="-240" dirty="0"/>
              <a:t> </a:t>
            </a:r>
            <a:r>
              <a:rPr spc="-60" dirty="0"/>
              <a:t>Today's</a:t>
            </a:r>
            <a:r>
              <a:rPr spc="-240" dirty="0"/>
              <a:t> </a:t>
            </a:r>
            <a:r>
              <a:rPr spc="-114" dirty="0"/>
              <a:t>Features,</a:t>
            </a:r>
            <a:r>
              <a:rPr spc="-340" dirty="0"/>
              <a:t> </a:t>
            </a:r>
            <a:r>
              <a:rPr spc="-120" dirty="0"/>
              <a:t>Tomorrow's</a:t>
            </a:r>
            <a:r>
              <a:rPr spc="-240" dirty="0"/>
              <a:t> </a:t>
            </a:r>
            <a:r>
              <a:rPr spc="-10" dirty="0"/>
              <a:t>Vision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2328862"/>
            <a:ext cx="85724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3224212"/>
            <a:ext cx="85724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4110037"/>
            <a:ext cx="85724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5005387"/>
            <a:ext cx="85724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5891212"/>
            <a:ext cx="85724" cy="857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87374" y="1701800"/>
            <a:ext cx="4768215" cy="434913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45" dirty="0">
                <a:latin typeface="Tahoma"/>
                <a:cs typeface="Tahoma"/>
              </a:rPr>
              <a:t>Key</a:t>
            </a:r>
            <a:r>
              <a:rPr sz="2000" b="1" spc="-204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Features</a:t>
            </a:r>
            <a:endParaRPr sz="2000" dirty="0">
              <a:latin typeface="Tahoma"/>
              <a:cs typeface="Tahoma"/>
            </a:endParaRPr>
          </a:p>
          <a:p>
            <a:pPr marL="269240" marR="127635">
              <a:lnSpc>
                <a:spcPct val="129600"/>
              </a:lnSpc>
              <a:spcBef>
                <a:spcPts val="1370"/>
              </a:spcBef>
            </a:pPr>
            <a:r>
              <a:rPr sz="1350" b="1" spc="-5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65" dirty="0">
                <a:solidFill>
                  <a:srgbClr val="262525"/>
                </a:solidFill>
                <a:latin typeface="Tahoma"/>
                <a:cs typeface="Tahoma"/>
              </a:rPr>
              <a:t>ranking</a:t>
            </a:r>
            <a:r>
              <a:rPr sz="1350" b="1" spc="-5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35" dirty="0">
                <a:solidFill>
                  <a:srgbClr val="262525"/>
                </a:solidFill>
                <a:latin typeface="Tahoma"/>
                <a:cs typeface="Tahoma"/>
              </a:rPr>
              <a:t>system:</a:t>
            </a:r>
            <a:r>
              <a:rPr sz="1350" b="1" spc="3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Ensures</a:t>
            </a:r>
            <a:r>
              <a:rPr sz="1350" spc="-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relevant </a:t>
            </a:r>
            <a:r>
              <a:rPr sz="1350" spc="-10" dirty="0">
                <a:solidFill>
                  <a:srgbClr val="262525"/>
                </a:solidFill>
                <a:latin typeface="Tahoma"/>
                <a:cs typeface="Tahoma"/>
              </a:rPr>
              <a:t>products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are</a:t>
            </a:r>
            <a:r>
              <a:rPr sz="1350" spc="-5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Tahoma"/>
                <a:cs typeface="Tahoma"/>
              </a:rPr>
              <a:t>seen.</a:t>
            </a:r>
            <a:endParaRPr sz="13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350" dirty="0">
              <a:latin typeface="Tahoma"/>
              <a:cs typeface="Tahoma"/>
            </a:endParaRPr>
          </a:p>
          <a:p>
            <a:pPr marL="269240" marR="5080">
              <a:lnSpc>
                <a:spcPct val="134300"/>
              </a:lnSpc>
            </a:pPr>
            <a:r>
              <a:rPr sz="1350" b="1" spc="-65" dirty="0">
                <a:solidFill>
                  <a:srgbClr val="262525"/>
                </a:solidFill>
                <a:latin typeface="Tahoma"/>
                <a:cs typeface="Tahoma"/>
              </a:rPr>
              <a:t>Smart</a:t>
            </a:r>
            <a:r>
              <a:rPr sz="1350" b="1" spc="-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30" dirty="0">
                <a:solidFill>
                  <a:srgbClr val="262525"/>
                </a:solidFill>
                <a:latin typeface="Tahoma"/>
                <a:cs typeface="Tahoma"/>
              </a:rPr>
              <a:t>search</a:t>
            </a:r>
            <a:r>
              <a:rPr sz="1350" b="1" spc="-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65" dirty="0">
                <a:solidFill>
                  <a:srgbClr val="262525"/>
                </a:solidFill>
                <a:latin typeface="Tahoma"/>
                <a:cs typeface="Tahoma"/>
              </a:rPr>
              <a:t>optimization:</a:t>
            </a:r>
            <a:r>
              <a:rPr sz="1350" b="1" spc="6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Guarantees</a:t>
            </a:r>
            <a:r>
              <a:rPr sz="1350" spc="3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effective</a:t>
            </a:r>
            <a:r>
              <a:rPr sz="1350" spc="3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Tahoma"/>
                <a:cs typeface="Tahoma"/>
              </a:rPr>
              <a:t>product discovery.</a:t>
            </a:r>
            <a:endParaRPr sz="13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350" dirty="0">
              <a:latin typeface="Tahoma"/>
              <a:cs typeface="Tahoma"/>
            </a:endParaRPr>
          </a:p>
          <a:p>
            <a:pPr marL="269240" marR="291465">
              <a:lnSpc>
                <a:spcPct val="134300"/>
              </a:lnSpc>
            </a:pPr>
            <a:r>
              <a:rPr sz="1350" b="1" spc="-55" dirty="0">
                <a:solidFill>
                  <a:srgbClr val="262525"/>
                </a:solidFill>
                <a:latin typeface="Tahoma"/>
                <a:cs typeface="Tahoma"/>
              </a:rPr>
              <a:t>Student-</a:t>
            </a:r>
            <a:r>
              <a:rPr sz="1350" b="1" spc="-20" dirty="0">
                <a:solidFill>
                  <a:srgbClr val="262525"/>
                </a:solidFill>
                <a:latin typeface="Tahoma"/>
                <a:cs typeface="Tahoma"/>
              </a:rPr>
              <a:t>focused</a:t>
            </a:r>
            <a:r>
              <a:rPr sz="1350" b="1" spc="-8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55" dirty="0">
                <a:solidFill>
                  <a:srgbClr val="262525"/>
                </a:solidFill>
                <a:latin typeface="Tahoma"/>
                <a:cs typeface="Tahoma"/>
              </a:rPr>
              <a:t>marketplace:</a:t>
            </a:r>
            <a:r>
              <a:rPr sz="1350" b="1" spc="-1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Tailored</a:t>
            </a:r>
            <a:r>
              <a:rPr sz="1350" spc="-4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for</a:t>
            </a:r>
            <a:r>
              <a:rPr sz="1350" spc="-4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Tahoma"/>
                <a:cs typeface="Tahoma"/>
              </a:rPr>
              <a:t>university needs.</a:t>
            </a:r>
            <a:endParaRPr sz="13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350" dirty="0">
              <a:latin typeface="Tahoma"/>
              <a:cs typeface="Tahoma"/>
            </a:endParaRPr>
          </a:p>
          <a:p>
            <a:pPr marL="269240" marR="238760">
              <a:lnSpc>
                <a:spcPct val="134300"/>
              </a:lnSpc>
            </a:pPr>
            <a:r>
              <a:rPr sz="1350" b="1" spc="-50" dirty="0">
                <a:solidFill>
                  <a:srgbClr val="262525"/>
                </a:solidFill>
                <a:latin typeface="Tahoma"/>
                <a:cs typeface="Tahoma"/>
              </a:rPr>
              <a:t>Predictive</a:t>
            </a:r>
            <a:r>
              <a:rPr sz="1350" b="1" spc="-7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40" dirty="0">
                <a:solidFill>
                  <a:srgbClr val="262525"/>
                </a:solidFill>
                <a:latin typeface="Tahoma"/>
                <a:cs typeface="Tahoma"/>
              </a:rPr>
              <a:t>analytics</a:t>
            </a:r>
            <a:r>
              <a:rPr sz="1350" b="1" spc="-6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50" dirty="0">
                <a:solidFill>
                  <a:srgbClr val="262525"/>
                </a:solidFill>
                <a:latin typeface="Tahoma"/>
                <a:cs typeface="Tahoma"/>
              </a:rPr>
              <a:t>engine:</a:t>
            </a:r>
            <a:r>
              <a:rPr sz="1350" b="1" spc="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Drives</a:t>
            </a:r>
            <a:r>
              <a:rPr sz="1350" spc="-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intelligent</a:t>
            </a:r>
            <a:r>
              <a:rPr sz="1350" spc="-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Tahoma"/>
                <a:cs typeface="Tahoma"/>
              </a:rPr>
              <a:t>platform functions.</a:t>
            </a:r>
            <a:endParaRPr sz="13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350" dirty="0">
              <a:latin typeface="Tahoma"/>
              <a:cs typeface="Tahoma"/>
            </a:endParaRPr>
          </a:p>
          <a:p>
            <a:pPr marL="269240" marR="606425">
              <a:lnSpc>
                <a:spcPct val="134300"/>
              </a:lnSpc>
              <a:spcBef>
                <a:spcPts val="5"/>
              </a:spcBef>
            </a:pPr>
            <a:r>
              <a:rPr sz="1350" b="1" spc="-30" dirty="0">
                <a:solidFill>
                  <a:srgbClr val="262525"/>
                </a:solidFill>
                <a:latin typeface="Tahoma"/>
                <a:cs typeface="Tahoma"/>
              </a:rPr>
              <a:t>Clean</a:t>
            </a:r>
            <a:r>
              <a:rPr sz="1350" b="1" spc="-6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45" dirty="0">
                <a:solidFill>
                  <a:srgbClr val="262525"/>
                </a:solidFill>
                <a:latin typeface="Tahoma"/>
                <a:cs typeface="Tahoma"/>
              </a:rPr>
              <a:t>and</a:t>
            </a:r>
            <a:r>
              <a:rPr sz="1350" b="1" spc="-6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55" dirty="0">
                <a:solidFill>
                  <a:srgbClr val="262525"/>
                </a:solidFill>
                <a:latin typeface="Tahoma"/>
                <a:cs typeface="Tahoma"/>
              </a:rPr>
              <a:t>modern</a:t>
            </a:r>
            <a:r>
              <a:rPr sz="1350" b="1" spc="-6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140" dirty="0">
                <a:solidFill>
                  <a:srgbClr val="262525"/>
                </a:solidFill>
                <a:latin typeface="Tahoma"/>
                <a:cs typeface="Tahoma"/>
              </a:rPr>
              <a:t>UI:</a:t>
            </a:r>
            <a:r>
              <a:rPr sz="1350" b="1" spc="1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62525"/>
                </a:solidFill>
                <a:latin typeface="Tahoma"/>
                <a:cs typeface="Tahoma"/>
              </a:rPr>
              <a:t>Intuitive</a:t>
            </a:r>
            <a:r>
              <a:rPr sz="1350" spc="-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and</a:t>
            </a:r>
            <a:r>
              <a:rPr sz="1350" spc="-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engaging</a:t>
            </a:r>
            <a:r>
              <a:rPr sz="1350" spc="-20" dirty="0">
                <a:solidFill>
                  <a:srgbClr val="262525"/>
                </a:solidFill>
                <a:latin typeface="Tahoma"/>
                <a:cs typeface="Tahoma"/>
              </a:rPr>
              <a:t> user </a:t>
            </a:r>
            <a:r>
              <a:rPr sz="1350" spc="-10" dirty="0">
                <a:solidFill>
                  <a:srgbClr val="262525"/>
                </a:solidFill>
                <a:latin typeface="Tahoma"/>
                <a:cs typeface="Tahoma"/>
              </a:rPr>
              <a:t>experience.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00749" y="2263014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26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00749" y="3148839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26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00749" y="4044189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26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920928" y="1701800"/>
            <a:ext cx="4749165" cy="2831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105" dirty="0">
                <a:latin typeface="Tahoma"/>
                <a:cs typeface="Tahoma"/>
              </a:rPr>
              <a:t>Future</a:t>
            </a:r>
            <a:r>
              <a:rPr sz="2000" b="1" spc="-190" dirty="0">
                <a:latin typeface="Tahoma"/>
                <a:cs typeface="Tahoma"/>
              </a:rPr>
              <a:t> </a:t>
            </a:r>
            <a:r>
              <a:rPr sz="2000" b="1" spc="-20" dirty="0">
                <a:latin typeface="Tahoma"/>
                <a:cs typeface="Tahoma"/>
              </a:rPr>
              <a:t>Scope</a:t>
            </a:r>
            <a:endParaRPr sz="2000">
              <a:latin typeface="Tahoma"/>
              <a:cs typeface="Tahoma"/>
            </a:endParaRPr>
          </a:p>
          <a:p>
            <a:pPr marL="569595" marR="422909">
              <a:lnSpc>
                <a:spcPct val="129600"/>
              </a:lnSpc>
              <a:spcBef>
                <a:spcPts val="1370"/>
              </a:spcBef>
            </a:pPr>
            <a:r>
              <a:rPr sz="1350" b="1" spc="-35" dirty="0">
                <a:solidFill>
                  <a:srgbClr val="262525"/>
                </a:solidFill>
                <a:latin typeface="Tahoma"/>
                <a:cs typeface="Tahoma"/>
              </a:rPr>
              <a:t>Price</a:t>
            </a:r>
            <a:r>
              <a:rPr sz="1350" b="1" spc="-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55" dirty="0">
                <a:solidFill>
                  <a:srgbClr val="262525"/>
                </a:solidFill>
                <a:latin typeface="Tahoma"/>
                <a:cs typeface="Tahoma"/>
              </a:rPr>
              <a:t>prediction</a:t>
            </a:r>
            <a:r>
              <a:rPr sz="1350" b="1" spc="-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55" dirty="0">
                <a:solidFill>
                  <a:srgbClr val="262525"/>
                </a:solidFill>
                <a:latin typeface="Tahoma"/>
                <a:cs typeface="Tahoma"/>
              </a:rPr>
              <a:t>model:</a:t>
            </a:r>
            <a:r>
              <a:rPr sz="1350" b="1" spc="6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Helps</a:t>
            </a:r>
            <a:r>
              <a:rPr sz="1350" spc="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users</a:t>
            </a:r>
            <a:r>
              <a:rPr sz="1350" spc="3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identify</a:t>
            </a:r>
            <a:r>
              <a:rPr sz="1350" spc="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262525"/>
                </a:solidFill>
                <a:latin typeface="Tahoma"/>
                <a:cs typeface="Tahoma"/>
              </a:rPr>
              <a:t>fair </a:t>
            </a:r>
            <a:r>
              <a:rPr sz="1350" spc="-10" dirty="0">
                <a:solidFill>
                  <a:srgbClr val="262525"/>
                </a:solidFill>
                <a:latin typeface="Tahoma"/>
                <a:cs typeface="Tahoma"/>
              </a:rPr>
              <a:t>pricing.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350">
              <a:latin typeface="Tahoma"/>
              <a:cs typeface="Tahoma"/>
            </a:endParaRPr>
          </a:p>
          <a:p>
            <a:pPr marL="569595" marR="262255">
              <a:lnSpc>
                <a:spcPct val="134300"/>
              </a:lnSpc>
            </a:pPr>
            <a:r>
              <a:rPr sz="1350" b="1" spc="-50" dirty="0">
                <a:solidFill>
                  <a:srgbClr val="262525"/>
                </a:solidFill>
                <a:latin typeface="Tahoma"/>
                <a:cs typeface="Tahoma"/>
              </a:rPr>
              <a:t>Personalized</a:t>
            </a:r>
            <a:r>
              <a:rPr sz="1350" b="1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55" dirty="0">
                <a:solidFill>
                  <a:srgbClr val="262525"/>
                </a:solidFill>
                <a:latin typeface="Tahoma"/>
                <a:cs typeface="Tahoma"/>
              </a:rPr>
              <a:t>recommendations:</a:t>
            </a:r>
            <a:r>
              <a:rPr sz="1350" b="1" spc="9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Custom</a:t>
            </a:r>
            <a:r>
              <a:rPr sz="1350" spc="6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Tahoma"/>
                <a:cs typeface="Tahoma"/>
              </a:rPr>
              <a:t>product </a:t>
            </a:r>
            <a:r>
              <a:rPr sz="1350" spc="10" dirty="0">
                <a:solidFill>
                  <a:srgbClr val="262525"/>
                </a:solidFill>
                <a:latin typeface="Tahoma"/>
                <a:cs typeface="Tahoma"/>
              </a:rPr>
              <a:t>suggestions</a:t>
            </a:r>
            <a:r>
              <a:rPr sz="1350" spc="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262525"/>
                </a:solidFill>
                <a:latin typeface="Tahoma"/>
                <a:cs typeface="Tahoma"/>
              </a:rPr>
              <a:t>based</a:t>
            </a:r>
            <a:r>
              <a:rPr sz="1350" spc="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262525"/>
                </a:solidFill>
                <a:latin typeface="Tahoma"/>
                <a:cs typeface="Tahoma"/>
              </a:rPr>
              <a:t>on</a:t>
            </a:r>
            <a:r>
              <a:rPr sz="1350" spc="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262525"/>
                </a:solidFill>
                <a:latin typeface="Tahoma"/>
                <a:cs typeface="Tahoma"/>
              </a:rPr>
              <a:t>user</a:t>
            </a:r>
            <a:r>
              <a:rPr sz="1350" spc="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Tahoma"/>
                <a:cs typeface="Tahoma"/>
              </a:rPr>
              <a:t>behavior.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350">
              <a:latin typeface="Tahoma"/>
              <a:cs typeface="Tahoma"/>
            </a:endParaRPr>
          </a:p>
          <a:p>
            <a:pPr marL="569595" marR="5080">
              <a:lnSpc>
                <a:spcPct val="134300"/>
              </a:lnSpc>
            </a:pPr>
            <a:r>
              <a:rPr sz="1350" b="1" spc="-65" dirty="0">
                <a:solidFill>
                  <a:srgbClr val="262525"/>
                </a:solidFill>
                <a:latin typeface="Tahoma"/>
                <a:cs typeface="Tahoma"/>
              </a:rPr>
              <a:t>Real-</a:t>
            </a:r>
            <a:r>
              <a:rPr sz="1350" b="1" spc="-75" dirty="0">
                <a:solidFill>
                  <a:srgbClr val="262525"/>
                </a:solidFill>
                <a:latin typeface="Tahoma"/>
                <a:cs typeface="Tahoma"/>
              </a:rPr>
              <a:t>time</a:t>
            </a:r>
            <a:r>
              <a:rPr sz="1350" b="1" spc="-3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55" dirty="0">
                <a:solidFill>
                  <a:srgbClr val="262525"/>
                </a:solidFill>
                <a:latin typeface="Tahoma"/>
                <a:cs typeface="Tahoma"/>
              </a:rPr>
              <a:t>demand</a:t>
            </a:r>
            <a:r>
              <a:rPr sz="1350" b="1" spc="-3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b="1" spc="-40" dirty="0">
                <a:solidFill>
                  <a:srgbClr val="262525"/>
                </a:solidFill>
                <a:latin typeface="Tahoma"/>
                <a:cs typeface="Tahoma"/>
              </a:rPr>
              <a:t>analysis:</a:t>
            </a:r>
            <a:r>
              <a:rPr sz="1350" b="1" spc="5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Optimizes</a:t>
            </a:r>
            <a:r>
              <a:rPr sz="1350" spc="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inventory</a:t>
            </a:r>
            <a:r>
              <a:rPr sz="1350" spc="20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62525"/>
                </a:solidFill>
                <a:latin typeface="Tahoma"/>
                <a:cs typeface="Tahoma"/>
              </a:rPr>
              <a:t>and </a:t>
            </a:r>
            <a:r>
              <a:rPr sz="1350" dirty="0">
                <a:solidFill>
                  <a:srgbClr val="262525"/>
                </a:solidFill>
                <a:latin typeface="Tahoma"/>
                <a:cs typeface="Tahoma"/>
              </a:rPr>
              <a:t>listing</a:t>
            </a:r>
            <a:r>
              <a:rPr sz="1350" spc="-25" dirty="0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Tahoma"/>
                <a:cs typeface="Tahoma"/>
              </a:rPr>
              <a:t>strategies.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15" name="object 15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6496050"/>
            <a:ext cx="1754504" cy="419100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A5C03C5-F613-CF2A-F017-6F12DF737F53}"/>
              </a:ext>
            </a:extLst>
          </p:cNvPr>
          <p:cNvSpPr/>
          <p:nvPr/>
        </p:nvSpPr>
        <p:spPr>
          <a:xfrm>
            <a:off x="9601200" y="6496050"/>
            <a:ext cx="1754504" cy="372998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00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A52F16-7F0B-61DA-99C4-6DE0D9FD0E37}"/>
              </a:ext>
            </a:extLst>
          </p:cNvPr>
          <p:cNvSpPr txBox="1"/>
          <p:nvPr/>
        </p:nvSpPr>
        <p:spPr>
          <a:xfrm>
            <a:off x="2209800" y="2613025"/>
            <a:ext cx="8686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36114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438</Words>
  <Application>Microsoft Office PowerPoint</Application>
  <PresentationFormat>Custom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Tahoma</vt:lpstr>
      <vt:lpstr>Office Theme</vt:lpstr>
      <vt:lpstr>Predictive Analytics Based Student Marketplace</vt:lpstr>
      <vt:lpstr>NEXO: Your Smart Second-Hand Marketplace</vt:lpstr>
      <vt:lpstr>Robust Architecture for Intelligent Solutions</vt:lpstr>
      <vt:lpstr>Intelligent Models Driving NEXO</vt:lpstr>
      <vt:lpstr>NEXO: Today's Features, Tomorrow's Vision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adarshaNanda</dc:creator>
  <cp:lastModifiedBy>Anshuman Rath</cp:lastModifiedBy>
  <cp:revision>1</cp:revision>
  <dcterms:created xsi:type="dcterms:W3CDTF">2026-02-26T16:42:56Z</dcterms:created>
  <dcterms:modified xsi:type="dcterms:W3CDTF">2026-02-26T17:14:55Z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2026-02-26T00:00:00Z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2026-02-26T00:00:00Z</vt:filetime>
  </property>
  <property fmtid="{D5CDD505-2E9C-101B-9397-08002B2CF9AE}" pid="5" name="Producer">
    <vt:lpwstr>pdf-lib (https://github.com/Hopding/pdf-lib)</vt:lpwstr>
  </property>
</Properties>
</file>